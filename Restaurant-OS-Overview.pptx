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3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21040" y="0"/>
            <a:ext cx="3870655" cy="6858000"/>
          </a:xfrm>
          <a:prstGeom prst="rect">
            <a:avLst/>
          </a:prstGeom>
          <a:solidFill>
            <a:srgbClr val="2A313B"/>
          </a:solidFill>
          <a:ln/>
        </p:spPr>
      </p:sp>
      <p:sp>
        <p:nvSpPr>
          <p:cNvPr id="3" name="Shape 1"/>
          <p:cNvSpPr/>
          <p:nvPr/>
        </p:nvSpPr>
        <p:spPr>
          <a:xfrm>
            <a:off x="822960" y="777240"/>
            <a:ext cx="566928" cy="566928"/>
          </a:xfrm>
          <a:prstGeom prst="roundRect">
            <a:avLst>
              <a:gd name="adj" fmla="val 22581"/>
            </a:avLst>
          </a:prstGeom>
          <a:solidFill>
            <a:srgbClr val="E08A3C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77724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E23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517904" y="82296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RESTAURANT OS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1965960"/>
            <a:ext cx="7315200" cy="2148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4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operating system</a:t>
            </a:r>
            <a:endParaRPr lang="en-US" sz="4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4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 modern</a:t>
            </a:r>
            <a:endParaRPr lang="en-US" sz="4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4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restaurants.</a:t>
            </a:r>
            <a:endParaRPr lang="en-US" sz="4300" dirty="0"/>
          </a:p>
        </p:txBody>
      </p:sp>
      <p:sp>
        <p:nvSpPr>
          <p:cNvPr id="7" name="Text 5"/>
          <p:cNvSpPr/>
          <p:nvPr/>
        </p:nvSpPr>
        <p:spPr>
          <a:xfrm>
            <a:off x="841248" y="4343400"/>
            <a:ext cx="6949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C9CD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platform for ordering, kitchen, floor, inventory and reporting — flat monthly pricing, no per-order fees.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41248" y="5349240"/>
            <a:ext cx="1097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E08A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859536" y="6053328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A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172968" y="5349240"/>
            <a:ext cx="1097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E08A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3191256" y="6053328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A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504688" y="5349240"/>
            <a:ext cx="1097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E08A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5522976" y="6053328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A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per-order fees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686800" y="137160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POS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686800" y="2029968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9CD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QR Menu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686800" y="2688336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Kitchen Display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686800" y="3346704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9CD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Reservations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686800" y="4005072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Inventory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686800" y="466344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9CD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Analytics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400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E08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7772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400" b="1" dirty="0">
                <a:solidFill>
                  <a:srgbClr val="2A2D3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Running a restaurant on</a:t>
            </a:r>
            <a:endParaRPr lang="en-US" sz="3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3400" b="1" dirty="0">
                <a:solidFill>
                  <a:srgbClr val="2A2D3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five disconnected tools.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822960" y="2743200"/>
            <a:ext cx="5212080" cy="1463040"/>
          </a:xfrm>
          <a:prstGeom prst="roundRect">
            <a:avLst>
              <a:gd name="adj" fmla="val 6250"/>
            </a:avLst>
          </a:prstGeom>
          <a:solidFill>
            <a:srgbClr val="F4F2ED"/>
          </a:solidFill>
          <a:ln w="12700">
            <a:solidFill>
              <a:srgbClr val="E6E4D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15568" y="3054096"/>
            <a:ext cx="502920" cy="502920"/>
          </a:xfrm>
          <a:prstGeom prst="ellipse">
            <a:avLst/>
          </a:prstGeom>
          <a:solidFill>
            <a:srgbClr val="E08A3C"/>
          </a:solidFill>
          <a:ln/>
        </p:spPr>
      </p:sp>
      <p:sp>
        <p:nvSpPr>
          <p:cNvPr id="6" name="Text 4"/>
          <p:cNvSpPr/>
          <p:nvPr/>
        </p:nvSpPr>
        <p:spPr>
          <a:xfrm>
            <a:off x="1115568" y="305409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1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210" dirty="0"/>
          </a:p>
        </p:txBody>
      </p:sp>
      <p:sp>
        <p:nvSpPr>
          <p:cNvPr id="7" name="Text 5"/>
          <p:cNvSpPr/>
          <p:nvPr/>
        </p:nvSpPr>
        <p:spPr>
          <a:xfrm>
            <a:off x="1828800" y="2962656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A2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Fragmented stack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828800" y="3401568"/>
            <a:ext cx="4069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apps for POS, menus, kitchen and bookings that never talk to each other.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400800" y="2743200"/>
            <a:ext cx="5212080" cy="1463040"/>
          </a:xfrm>
          <a:prstGeom prst="roundRect">
            <a:avLst>
              <a:gd name="adj" fmla="val 6250"/>
            </a:avLst>
          </a:prstGeom>
          <a:solidFill>
            <a:srgbClr val="F4F2ED"/>
          </a:solidFill>
          <a:ln w="12700">
            <a:solidFill>
              <a:srgbClr val="E6E4D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693408" y="3054096"/>
            <a:ext cx="502920" cy="502920"/>
          </a:xfrm>
          <a:prstGeom prst="ellipse">
            <a:avLst/>
          </a:prstGeom>
          <a:solidFill>
            <a:srgbClr val="E08A3C"/>
          </a:solidFill>
          <a:ln/>
        </p:spPr>
      </p:sp>
      <p:sp>
        <p:nvSpPr>
          <p:cNvPr id="11" name="Text 9"/>
          <p:cNvSpPr/>
          <p:nvPr/>
        </p:nvSpPr>
        <p:spPr>
          <a:xfrm>
            <a:off x="6693408" y="305409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1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210" dirty="0"/>
          </a:p>
        </p:txBody>
      </p:sp>
      <p:sp>
        <p:nvSpPr>
          <p:cNvPr id="12" name="Text 10"/>
          <p:cNvSpPr/>
          <p:nvPr/>
        </p:nvSpPr>
        <p:spPr>
          <a:xfrm>
            <a:off x="7406640" y="2962656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A2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Per-order fees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406640" y="3401568"/>
            <a:ext cx="4069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Third-party platforms skim a cut of every single order you take.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22960" y="4480560"/>
            <a:ext cx="5212080" cy="1463040"/>
          </a:xfrm>
          <a:prstGeom prst="roundRect">
            <a:avLst>
              <a:gd name="adj" fmla="val 6250"/>
            </a:avLst>
          </a:prstGeom>
          <a:solidFill>
            <a:srgbClr val="F4F2ED"/>
          </a:solidFill>
          <a:ln w="12700">
            <a:solidFill>
              <a:srgbClr val="E6E4D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115568" y="4791456"/>
            <a:ext cx="502920" cy="502920"/>
          </a:xfrm>
          <a:prstGeom prst="ellipse">
            <a:avLst/>
          </a:prstGeom>
          <a:solidFill>
            <a:srgbClr val="E08A3C"/>
          </a:solidFill>
          <a:ln/>
        </p:spPr>
      </p:sp>
      <p:sp>
        <p:nvSpPr>
          <p:cNvPr id="16" name="Text 14"/>
          <p:cNvSpPr/>
          <p:nvPr/>
        </p:nvSpPr>
        <p:spPr>
          <a:xfrm>
            <a:off x="1115568" y="479145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1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210" dirty="0"/>
          </a:p>
        </p:txBody>
      </p:sp>
      <p:sp>
        <p:nvSpPr>
          <p:cNvPr id="17" name="Text 15"/>
          <p:cNvSpPr/>
          <p:nvPr/>
        </p:nvSpPr>
        <p:spPr>
          <a:xfrm>
            <a:off x="1828800" y="4700016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A2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Blind on stock &amp; cost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828800" y="5138928"/>
            <a:ext cx="4069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live view of inventory, recipe cost or margins until it's too late.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400800" y="4480560"/>
            <a:ext cx="5212080" cy="1463040"/>
          </a:xfrm>
          <a:prstGeom prst="roundRect">
            <a:avLst>
              <a:gd name="adj" fmla="val 6250"/>
            </a:avLst>
          </a:prstGeom>
          <a:solidFill>
            <a:srgbClr val="F4F2ED"/>
          </a:solidFill>
          <a:ln w="12700">
            <a:solidFill>
              <a:srgbClr val="E6E4D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693408" y="4791456"/>
            <a:ext cx="502920" cy="502920"/>
          </a:xfrm>
          <a:prstGeom prst="ellipse">
            <a:avLst/>
          </a:prstGeom>
          <a:solidFill>
            <a:srgbClr val="E08A3C"/>
          </a:solidFill>
          <a:ln/>
        </p:spPr>
      </p:sp>
      <p:sp>
        <p:nvSpPr>
          <p:cNvPr id="21" name="Text 19"/>
          <p:cNvSpPr/>
          <p:nvPr/>
        </p:nvSpPr>
        <p:spPr>
          <a:xfrm>
            <a:off x="6693408" y="479145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1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210" dirty="0"/>
          </a:p>
        </p:txBody>
      </p:sp>
      <p:sp>
        <p:nvSpPr>
          <p:cNvPr id="22" name="Text 20"/>
          <p:cNvSpPr/>
          <p:nvPr/>
        </p:nvSpPr>
        <p:spPr>
          <a:xfrm>
            <a:off x="7406640" y="4700016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A2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single source of truth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406640" y="5138928"/>
            <a:ext cx="4069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Multi-location owners stitch reports together by hand every week.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23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400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E08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15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Everything front-of-house to back-office,</a:t>
            </a:r>
            <a:endParaRPr lang="en-US" sz="3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 one connected system.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2651760"/>
            <a:ext cx="3429000" cy="3200400"/>
          </a:xfrm>
          <a:prstGeom prst="roundRect">
            <a:avLst>
              <a:gd name="adj" fmla="val 3429"/>
            </a:avLst>
          </a:prstGeom>
          <a:solidFill>
            <a:srgbClr val="2A313B"/>
          </a:solidFill>
          <a:ln/>
        </p:spPr>
      </p:sp>
      <p:sp>
        <p:nvSpPr>
          <p:cNvPr id="5" name="Shape 3"/>
          <p:cNvSpPr/>
          <p:nvPr/>
        </p:nvSpPr>
        <p:spPr>
          <a:xfrm>
            <a:off x="1143000" y="2971800"/>
            <a:ext cx="685800" cy="685800"/>
          </a:xfrm>
          <a:prstGeom prst="ellipse">
            <a:avLst/>
          </a:prstGeom>
          <a:solidFill>
            <a:srgbClr val="E08A3C"/>
          </a:solidFill>
          <a:ln/>
        </p:spPr>
      </p:sp>
      <p:sp>
        <p:nvSpPr>
          <p:cNvPr id="6" name="Text 4"/>
          <p:cNvSpPr/>
          <p:nvPr/>
        </p:nvSpPr>
        <p:spPr>
          <a:xfrm>
            <a:off x="1143000" y="297180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E23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143000" y="388620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Guests order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143000" y="4389120"/>
            <a:ext cx="28803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C9CD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 menu, mobile app or waiter POS — every order lands in one place.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4526280" y="2651760"/>
            <a:ext cx="3429000" cy="3200400"/>
          </a:xfrm>
          <a:prstGeom prst="roundRect">
            <a:avLst>
              <a:gd name="adj" fmla="val 3429"/>
            </a:avLst>
          </a:prstGeom>
          <a:solidFill>
            <a:srgbClr val="2A313B"/>
          </a:solidFill>
          <a:ln/>
        </p:spPr>
      </p:sp>
      <p:sp>
        <p:nvSpPr>
          <p:cNvPr id="10" name="Shape 8"/>
          <p:cNvSpPr/>
          <p:nvPr/>
        </p:nvSpPr>
        <p:spPr>
          <a:xfrm>
            <a:off x="4846320" y="2971800"/>
            <a:ext cx="685800" cy="685800"/>
          </a:xfrm>
          <a:prstGeom prst="ellipse">
            <a:avLst/>
          </a:prstGeom>
          <a:solidFill>
            <a:srgbClr val="2C7A6B"/>
          </a:solidFill>
          <a:ln/>
        </p:spPr>
      </p:sp>
      <p:sp>
        <p:nvSpPr>
          <p:cNvPr id="11" name="Text 9"/>
          <p:cNvSpPr/>
          <p:nvPr/>
        </p:nvSpPr>
        <p:spPr>
          <a:xfrm>
            <a:off x="4846320" y="297180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E23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4846320" y="388620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Kitchen cooks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846320" y="4389120"/>
            <a:ext cx="28803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C9CD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kitchen display routes tickets to the right station in real time.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8229600" y="2651760"/>
            <a:ext cx="3429000" cy="3200400"/>
          </a:xfrm>
          <a:prstGeom prst="roundRect">
            <a:avLst>
              <a:gd name="adj" fmla="val 3429"/>
            </a:avLst>
          </a:prstGeom>
          <a:solidFill>
            <a:srgbClr val="2A313B"/>
          </a:solidFill>
          <a:ln/>
        </p:spPr>
      </p:sp>
      <p:sp>
        <p:nvSpPr>
          <p:cNvPr id="15" name="Shape 13"/>
          <p:cNvSpPr/>
          <p:nvPr/>
        </p:nvSpPr>
        <p:spPr>
          <a:xfrm>
            <a:off x="8549640" y="2971800"/>
            <a:ext cx="685800" cy="685800"/>
          </a:xfrm>
          <a:prstGeom prst="ellipse">
            <a:avLst/>
          </a:prstGeom>
          <a:solidFill>
            <a:srgbClr val="E08A3C"/>
          </a:solidFill>
          <a:ln/>
        </p:spPr>
      </p:sp>
      <p:sp>
        <p:nvSpPr>
          <p:cNvPr id="16" name="Text 14"/>
          <p:cNvSpPr/>
          <p:nvPr/>
        </p:nvSpPr>
        <p:spPr>
          <a:xfrm>
            <a:off x="8549640" y="297180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E23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8549640" y="388620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run the business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549640" y="4389120"/>
            <a:ext cx="28803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C9CD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Inventory, staff, reporting and multi-location control from one dashboard.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822960" y="612648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E08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online, offline and on-premise — with realtime sync across every device.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E08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GET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8229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A2D3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Core functionality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22960" y="1783080"/>
            <a:ext cx="3602736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E6E4D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78992" y="2057400"/>
            <a:ext cx="475488" cy="475488"/>
          </a:xfrm>
          <a:prstGeom prst="ellipse">
            <a:avLst/>
          </a:prstGeom>
          <a:solidFill>
            <a:srgbClr val="E08A3C"/>
          </a:solidFill>
          <a:ln/>
        </p:spPr>
      </p:sp>
      <p:sp>
        <p:nvSpPr>
          <p:cNvPr id="6" name="Text 4"/>
          <p:cNvSpPr/>
          <p:nvPr/>
        </p:nvSpPr>
        <p:spPr>
          <a:xfrm>
            <a:off x="1078992" y="205740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1144" dirty="0"/>
          </a:p>
        </p:txBody>
      </p:sp>
      <p:sp>
        <p:nvSpPr>
          <p:cNvPr id="7" name="Text 5"/>
          <p:cNvSpPr/>
          <p:nvPr/>
        </p:nvSpPr>
        <p:spPr>
          <a:xfrm>
            <a:off x="1719072" y="2002536"/>
            <a:ext cx="259689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A2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POS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1719072" y="2423160"/>
            <a:ext cx="259689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Touch-first tablet ordering for waiters &amp; cashiers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645152" y="1783080"/>
            <a:ext cx="3602736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E6E4D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901184" y="2057400"/>
            <a:ext cx="475488" cy="475488"/>
          </a:xfrm>
          <a:prstGeom prst="ellipse">
            <a:avLst/>
          </a:prstGeom>
          <a:solidFill>
            <a:srgbClr val="2C7A6B"/>
          </a:solidFill>
          <a:ln/>
        </p:spPr>
      </p:sp>
      <p:sp>
        <p:nvSpPr>
          <p:cNvPr id="11" name="Text 9"/>
          <p:cNvSpPr/>
          <p:nvPr/>
        </p:nvSpPr>
        <p:spPr>
          <a:xfrm>
            <a:off x="4901184" y="205740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1144" dirty="0"/>
          </a:p>
        </p:txBody>
      </p:sp>
      <p:sp>
        <p:nvSpPr>
          <p:cNvPr id="12" name="Text 10"/>
          <p:cNvSpPr/>
          <p:nvPr/>
        </p:nvSpPr>
        <p:spPr>
          <a:xfrm>
            <a:off x="5541264" y="2002536"/>
            <a:ext cx="259689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A2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 &amp; mobile ordering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5541264" y="2423160"/>
            <a:ext cx="259689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Guests order from the table or the consumer app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467344" y="1783080"/>
            <a:ext cx="3602736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E6E4D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723376" y="2057400"/>
            <a:ext cx="475488" cy="475488"/>
          </a:xfrm>
          <a:prstGeom prst="ellipse">
            <a:avLst/>
          </a:prstGeom>
          <a:solidFill>
            <a:srgbClr val="E08A3C"/>
          </a:solidFill>
          <a:ln/>
        </p:spPr>
      </p:sp>
      <p:sp>
        <p:nvSpPr>
          <p:cNvPr id="16" name="Text 14"/>
          <p:cNvSpPr/>
          <p:nvPr/>
        </p:nvSpPr>
        <p:spPr>
          <a:xfrm>
            <a:off x="8723376" y="205740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1144" dirty="0"/>
          </a:p>
        </p:txBody>
      </p:sp>
      <p:sp>
        <p:nvSpPr>
          <p:cNvPr id="17" name="Text 15"/>
          <p:cNvSpPr/>
          <p:nvPr/>
        </p:nvSpPr>
        <p:spPr>
          <a:xfrm>
            <a:off x="9363456" y="2002536"/>
            <a:ext cx="259689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A2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Kitchen Display (KDS)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9363456" y="2423160"/>
            <a:ext cx="259689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Station-routed tickets, live over the network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22960" y="3319272"/>
            <a:ext cx="3602736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E6E4D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78992" y="3593592"/>
            <a:ext cx="475488" cy="475488"/>
          </a:xfrm>
          <a:prstGeom prst="ellipse">
            <a:avLst/>
          </a:prstGeom>
          <a:solidFill>
            <a:srgbClr val="2C7A6B"/>
          </a:solidFill>
          <a:ln/>
        </p:spPr>
      </p:sp>
      <p:sp>
        <p:nvSpPr>
          <p:cNvPr id="21" name="Text 19"/>
          <p:cNvSpPr/>
          <p:nvPr/>
        </p:nvSpPr>
        <p:spPr>
          <a:xfrm>
            <a:off x="1078992" y="3593592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1144" dirty="0"/>
          </a:p>
        </p:txBody>
      </p:sp>
      <p:sp>
        <p:nvSpPr>
          <p:cNvPr id="22" name="Text 20"/>
          <p:cNvSpPr/>
          <p:nvPr/>
        </p:nvSpPr>
        <p:spPr>
          <a:xfrm>
            <a:off x="1719072" y="3538728"/>
            <a:ext cx="259689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A2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 &amp; modifiers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1719072" y="3959352"/>
            <a:ext cx="259689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Categories, items, modifier groups, allergens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645152" y="3319272"/>
            <a:ext cx="3602736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E6E4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901184" y="3593592"/>
            <a:ext cx="475488" cy="475488"/>
          </a:xfrm>
          <a:prstGeom prst="ellipse">
            <a:avLst/>
          </a:prstGeom>
          <a:solidFill>
            <a:srgbClr val="E08A3C"/>
          </a:solidFill>
          <a:ln/>
        </p:spPr>
      </p:sp>
      <p:sp>
        <p:nvSpPr>
          <p:cNvPr id="26" name="Text 24"/>
          <p:cNvSpPr/>
          <p:nvPr/>
        </p:nvSpPr>
        <p:spPr>
          <a:xfrm>
            <a:off x="4901184" y="3593592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1144" dirty="0"/>
          </a:p>
        </p:txBody>
      </p:sp>
      <p:sp>
        <p:nvSpPr>
          <p:cNvPr id="27" name="Text 25"/>
          <p:cNvSpPr/>
          <p:nvPr/>
        </p:nvSpPr>
        <p:spPr>
          <a:xfrm>
            <a:off x="5541264" y="3538728"/>
            <a:ext cx="259689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A2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Tables &amp; floor plan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5541264" y="3959352"/>
            <a:ext cx="259689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Drag-and-drop layout with live table status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8467344" y="3319272"/>
            <a:ext cx="3602736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E6E4D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723376" y="3593592"/>
            <a:ext cx="475488" cy="475488"/>
          </a:xfrm>
          <a:prstGeom prst="ellipse">
            <a:avLst/>
          </a:prstGeom>
          <a:solidFill>
            <a:srgbClr val="2C7A6B"/>
          </a:solidFill>
          <a:ln/>
        </p:spPr>
      </p:sp>
      <p:sp>
        <p:nvSpPr>
          <p:cNvPr id="31" name="Text 29"/>
          <p:cNvSpPr/>
          <p:nvPr/>
        </p:nvSpPr>
        <p:spPr>
          <a:xfrm>
            <a:off x="8723376" y="3593592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1144" dirty="0"/>
          </a:p>
        </p:txBody>
      </p:sp>
      <p:sp>
        <p:nvSpPr>
          <p:cNvPr id="32" name="Text 30"/>
          <p:cNvSpPr/>
          <p:nvPr/>
        </p:nvSpPr>
        <p:spPr>
          <a:xfrm>
            <a:off x="9363456" y="3538728"/>
            <a:ext cx="259689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A2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Reservations &amp; waitlist</a:t>
            </a:r>
            <a:endParaRPr lang="en-US" sz="1450" dirty="0"/>
          </a:p>
        </p:txBody>
      </p:sp>
      <p:sp>
        <p:nvSpPr>
          <p:cNvPr id="33" name="Text 31"/>
          <p:cNvSpPr/>
          <p:nvPr/>
        </p:nvSpPr>
        <p:spPr>
          <a:xfrm>
            <a:off x="9363456" y="3959352"/>
            <a:ext cx="259689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Bookings, waitlist and missed-call capture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822960" y="4855464"/>
            <a:ext cx="3602736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E6E4D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078992" y="5129784"/>
            <a:ext cx="475488" cy="475488"/>
          </a:xfrm>
          <a:prstGeom prst="ellipse">
            <a:avLst/>
          </a:prstGeom>
          <a:solidFill>
            <a:srgbClr val="E08A3C"/>
          </a:solidFill>
          <a:ln/>
        </p:spPr>
      </p:sp>
      <p:sp>
        <p:nvSpPr>
          <p:cNvPr id="36" name="Text 34"/>
          <p:cNvSpPr/>
          <p:nvPr/>
        </p:nvSpPr>
        <p:spPr>
          <a:xfrm>
            <a:off x="1078992" y="5129784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1144" dirty="0"/>
          </a:p>
        </p:txBody>
      </p:sp>
      <p:sp>
        <p:nvSpPr>
          <p:cNvPr id="37" name="Text 35"/>
          <p:cNvSpPr/>
          <p:nvPr/>
        </p:nvSpPr>
        <p:spPr>
          <a:xfrm>
            <a:off x="1719072" y="5074920"/>
            <a:ext cx="259689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A2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Payments &amp; fiscal</a:t>
            </a:r>
            <a:endParaRPr lang="en-US" sz="1450" dirty="0"/>
          </a:p>
        </p:txBody>
      </p:sp>
      <p:sp>
        <p:nvSpPr>
          <p:cNvPr id="38" name="Text 36"/>
          <p:cNvSpPr/>
          <p:nvPr/>
        </p:nvSpPr>
        <p:spPr>
          <a:xfrm>
            <a:off x="1719072" y="5495544"/>
            <a:ext cx="259689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Cash/card capture with tax-compliant fiscalization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4645152" y="4855464"/>
            <a:ext cx="3602736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E6E4DF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901184" y="5129784"/>
            <a:ext cx="475488" cy="475488"/>
          </a:xfrm>
          <a:prstGeom prst="ellipse">
            <a:avLst/>
          </a:prstGeom>
          <a:solidFill>
            <a:srgbClr val="2C7A6B"/>
          </a:solidFill>
          <a:ln/>
        </p:spPr>
      </p:sp>
      <p:sp>
        <p:nvSpPr>
          <p:cNvPr id="41" name="Text 39"/>
          <p:cNvSpPr/>
          <p:nvPr/>
        </p:nvSpPr>
        <p:spPr>
          <a:xfrm>
            <a:off x="4901184" y="5129784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1144" dirty="0"/>
          </a:p>
        </p:txBody>
      </p:sp>
      <p:sp>
        <p:nvSpPr>
          <p:cNvPr id="42" name="Text 40"/>
          <p:cNvSpPr/>
          <p:nvPr/>
        </p:nvSpPr>
        <p:spPr>
          <a:xfrm>
            <a:off x="5541264" y="5074920"/>
            <a:ext cx="259689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A2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&amp; recipe cost</a:t>
            </a:r>
            <a:endParaRPr lang="en-US" sz="1450" dirty="0"/>
          </a:p>
        </p:txBody>
      </p:sp>
      <p:sp>
        <p:nvSpPr>
          <p:cNvPr id="43" name="Text 41"/>
          <p:cNvSpPr/>
          <p:nvPr/>
        </p:nvSpPr>
        <p:spPr>
          <a:xfrm>
            <a:off x="5541264" y="5495544"/>
            <a:ext cx="259689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Stock, suppliers, FIFO layers, menu costing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8467344" y="4855464"/>
            <a:ext cx="3602736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E6E4DF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8723376" y="5129784"/>
            <a:ext cx="475488" cy="475488"/>
          </a:xfrm>
          <a:prstGeom prst="ellipse">
            <a:avLst/>
          </a:prstGeom>
          <a:solidFill>
            <a:srgbClr val="E08A3C"/>
          </a:solidFill>
          <a:ln/>
        </p:spPr>
      </p:sp>
      <p:sp>
        <p:nvSpPr>
          <p:cNvPr id="46" name="Text 44"/>
          <p:cNvSpPr/>
          <p:nvPr/>
        </p:nvSpPr>
        <p:spPr>
          <a:xfrm>
            <a:off x="8723376" y="5129784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1144" dirty="0"/>
          </a:p>
        </p:txBody>
      </p:sp>
      <p:sp>
        <p:nvSpPr>
          <p:cNvPr id="47" name="Text 45"/>
          <p:cNvSpPr/>
          <p:nvPr/>
        </p:nvSpPr>
        <p:spPr>
          <a:xfrm>
            <a:off x="9363456" y="5074920"/>
            <a:ext cx="259689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A2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&amp; exports</a:t>
            </a:r>
            <a:endParaRPr lang="en-US" sz="1450" dirty="0"/>
          </a:p>
        </p:txBody>
      </p:sp>
      <p:sp>
        <p:nvSpPr>
          <p:cNvPr id="48" name="Text 46"/>
          <p:cNvSpPr/>
          <p:nvPr/>
        </p:nvSpPr>
        <p:spPr>
          <a:xfrm>
            <a:off x="9363456" y="5495544"/>
            <a:ext cx="259689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sales, dashboards, Excel/CSV export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23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400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E08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OPERATORS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Capabilities most POS tools don't have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965960"/>
            <a:ext cx="512064" cy="512064"/>
          </a:xfrm>
          <a:prstGeom prst="ellipse">
            <a:avLst/>
          </a:prstGeom>
          <a:solidFill>
            <a:srgbClr val="E08A3C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96596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32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32" dirty="0"/>
          </a:p>
        </p:txBody>
      </p:sp>
      <p:sp>
        <p:nvSpPr>
          <p:cNvPr id="6" name="Text 4"/>
          <p:cNvSpPr/>
          <p:nvPr/>
        </p:nvSpPr>
        <p:spPr>
          <a:xfrm>
            <a:off x="1554480" y="1911096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Multi-location &amp; franchise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5212080" y="1911096"/>
            <a:ext cx="6400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C9CD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 → restaurant → branch hierarchy, menu sync across venues, consolidated reporting.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822960" y="2862072"/>
            <a:ext cx="512064" cy="512064"/>
          </a:xfrm>
          <a:prstGeom prst="ellipse">
            <a:avLst/>
          </a:prstGeom>
          <a:solidFill>
            <a:srgbClr val="2C7A6B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2862072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32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32" dirty="0"/>
          </a:p>
        </p:txBody>
      </p:sp>
      <p:sp>
        <p:nvSpPr>
          <p:cNvPr id="10" name="Text 8"/>
          <p:cNvSpPr/>
          <p:nvPr/>
        </p:nvSpPr>
        <p:spPr>
          <a:xfrm>
            <a:off x="1554480" y="2807208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&amp; edge deployment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5212080" y="2807208"/>
            <a:ext cx="6400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C9CD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On-premise edge nodes with outbox sync keep service running when the internet drops.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22960" y="3758184"/>
            <a:ext cx="512064" cy="512064"/>
          </a:xfrm>
          <a:prstGeom prst="ellipse">
            <a:avLst/>
          </a:prstGeom>
          <a:solidFill>
            <a:srgbClr val="E08A3C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3758184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32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32" dirty="0"/>
          </a:p>
        </p:txBody>
      </p:sp>
      <p:sp>
        <p:nvSpPr>
          <p:cNvPr id="14" name="Text 12"/>
          <p:cNvSpPr/>
          <p:nvPr/>
        </p:nvSpPr>
        <p:spPr>
          <a:xfrm>
            <a:off x="1554480" y="3703320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roles &amp; PIN login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5212080" y="3703320"/>
            <a:ext cx="6400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C9CD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Granular RBAC (owner, manager, waiter, cashier + custom), fast PIN/device sign-in per terminal.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22960" y="4654296"/>
            <a:ext cx="512064" cy="512064"/>
          </a:xfrm>
          <a:prstGeom prst="ellipse">
            <a:avLst/>
          </a:prstGeom>
          <a:solidFill>
            <a:srgbClr val="2C7A6B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4654296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32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32" dirty="0"/>
          </a:p>
        </p:txBody>
      </p:sp>
      <p:sp>
        <p:nvSpPr>
          <p:cNvPr id="18" name="Text 16"/>
          <p:cNvSpPr/>
          <p:nvPr/>
        </p:nvSpPr>
        <p:spPr>
          <a:xfrm>
            <a:off x="1554480" y="4599432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Fiscalization &amp; compliance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5212080" y="4599432"/>
            <a:ext cx="6400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C9CD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EHDM fiscal-device integration and per-item tax codes for local tax compliance.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822960" y="5550408"/>
            <a:ext cx="512064" cy="512064"/>
          </a:xfrm>
          <a:prstGeom prst="ellipse">
            <a:avLst/>
          </a:prstGeom>
          <a:solidFill>
            <a:srgbClr val="E08A3C"/>
          </a:solidFill>
          <a:ln/>
        </p:spPr>
      </p:sp>
      <p:sp>
        <p:nvSpPr>
          <p:cNvPr id="21" name="Text 19"/>
          <p:cNvSpPr/>
          <p:nvPr/>
        </p:nvSpPr>
        <p:spPr>
          <a:xfrm>
            <a:off x="822960" y="555040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32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32" dirty="0"/>
          </a:p>
        </p:txBody>
      </p:sp>
      <p:sp>
        <p:nvSpPr>
          <p:cNvPr id="22" name="Text 20"/>
          <p:cNvSpPr/>
          <p:nvPr/>
        </p:nvSpPr>
        <p:spPr>
          <a:xfrm>
            <a:off x="1554480" y="5495544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Multilingual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5212080" y="5495544"/>
            <a:ext cx="6400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C9CD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Armenian, Russian and English interface out of the box.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400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E08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A2D3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table to kitchen in seconds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2468880"/>
            <a:ext cx="2606040" cy="2651760"/>
          </a:xfrm>
          <a:prstGeom prst="roundRect">
            <a:avLst>
              <a:gd name="adj" fmla="val 4211"/>
            </a:avLst>
          </a:prstGeom>
          <a:solidFill>
            <a:srgbClr val="F4F2ED"/>
          </a:solidFill>
          <a:ln w="12700">
            <a:solidFill>
              <a:srgbClr val="E6E4D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7280" y="2743200"/>
            <a:ext cx="2057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C471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1097280" y="3520440"/>
            <a:ext cx="2057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A2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97280" y="4041648"/>
            <a:ext cx="2103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Guest scans the table QR code or a waiter opens the POS.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410712" y="3383280"/>
            <a:ext cx="25603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E08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3400" dirty="0"/>
          </a:p>
        </p:txBody>
      </p:sp>
      <p:sp>
        <p:nvSpPr>
          <p:cNvPr id="9" name="Shape 7"/>
          <p:cNvSpPr/>
          <p:nvPr/>
        </p:nvSpPr>
        <p:spPr>
          <a:xfrm>
            <a:off x="3648456" y="2468880"/>
            <a:ext cx="2606040" cy="2651760"/>
          </a:xfrm>
          <a:prstGeom prst="roundRect">
            <a:avLst>
              <a:gd name="adj" fmla="val 4211"/>
            </a:avLst>
          </a:prstGeom>
          <a:solidFill>
            <a:srgbClr val="1E232B"/>
          </a:solidFill>
          <a:ln/>
        </p:spPr>
      </p:sp>
      <p:sp>
        <p:nvSpPr>
          <p:cNvPr id="10" name="Text 8"/>
          <p:cNvSpPr/>
          <p:nvPr/>
        </p:nvSpPr>
        <p:spPr>
          <a:xfrm>
            <a:off x="3922776" y="2743200"/>
            <a:ext cx="2057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08A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3922776" y="3520440"/>
            <a:ext cx="2057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922776" y="4041648"/>
            <a:ext cx="2103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9CD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Items + modifiers are placed and confirmed in one tap.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236208" y="3383280"/>
            <a:ext cx="25603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E08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3400" dirty="0"/>
          </a:p>
        </p:txBody>
      </p:sp>
      <p:sp>
        <p:nvSpPr>
          <p:cNvPr id="14" name="Shape 12"/>
          <p:cNvSpPr/>
          <p:nvPr/>
        </p:nvSpPr>
        <p:spPr>
          <a:xfrm>
            <a:off x="6473952" y="2468880"/>
            <a:ext cx="2606040" cy="2651760"/>
          </a:xfrm>
          <a:prstGeom prst="roundRect">
            <a:avLst>
              <a:gd name="adj" fmla="val 4211"/>
            </a:avLst>
          </a:prstGeom>
          <a:solidFill>
            <a:srgbClr val="F4F2ED"/>
          </a:solidFill>
          <a:ln w="12700">
            <a:solidFill>
              <a:srgbClr val="E6E4D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748272" y="2743200"/>
            <a:ext cx="2057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C471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3400" dirty="0"/>
          </a:p>
        </p:txBody>
      </p:sp>
      <p:sp>
        <p:nvSpPr>
          <p:cNvPr id="16" name="Text 14"/>
          <p:cNvSpPr/>
          <p:nvPr/>
        </p:nvSpPr>
        <p:spPr>
          <a:xfrm>
            <a:off x="6748272" y="3520440"/>
            <a:ext cx="2057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A2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Cook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748272" y="4041648"/>
            <a:ext cx="2103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 routes live to the right kitchen display station.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061704" y="3383280"/>
            <a:ext cx="25603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E08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3400" dirty="0"/>
          </a:p>
        </p:txBody>
      </p:sp>
      <p:sp>
        <p:nvSpPr>
          <p:cNvPr id="19" name="Shape 17"/>
          <p:cNvSpPr/>
          <p:nvPr/>
        </p:nvSpPr>
        <p:spPr>
          <a:xfrm>
            <a:off x="9299448" y="2468880"/>
            <a:ext cx="2606040" cy="2651760"/>
          </a:xfrm>
          <a:prstGeom prst="roundRect">
            <a:avLst>
              <a:gd name="adj" fmla="val 4211"/>
            </a:avLst>
          </a:prstGeom>
          <a:solidFill>
            <a:srgbClr val="1E232B"/>
          </a:solidFill>
          <a:ln/>
        </p:spPr>
      </p:sp>
      <p:sp>
        <p:nvSpPr>
          <p:cNvPr id="20" name="Text 18"/>
          <p:cNvSpPr/>
          <p:nvPr/>
        </p:nvSpPr>
        <p:spPr>
          <a:xfrm>
            <a:off x="9573768" y="2743200"/>
            <a:ext cx="2057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08A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3400" dirty="0"/>
          </a:p>
        </p:txBody>
      </p:sp>
      <p:sp>
        <p:nvSpPr>
          <p:cNvPr id="21" name="Text 19"/>
          <p:cNvSpPr/>
          <p:nvPr/>
        </p:nvSpPr>
        <p:spPr>
          <a:xfrm>
            <a:off x="9573768" y="3520440"/>
            <a:ext cx="2057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9573768" y="4041648"/>
            <a:ext cx="2103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9CD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Sales, stock and margins update on your dashboard instantly.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22960" y="553212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connected data flow — every order updates the kitchen, stock and reports in real time.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3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E08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77724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Four plans. Flat monthly. No per-order fees.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85800" y="1691640"/>
            <a:ext cx="2670048" cy="4389120"/>
          </a:xfrm>
          <a:prstGeom prst="roundRect">
            <a:avLst>
              <a:gd name="adj" fmla="val 4110"/>
            </a:avLst>
          </a:prstGeom>
          <a:solidFill>
            <a:srgbClr val="2A313B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2011680"/>
            <a:ext cx="26700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rgbClr val="E08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STARTER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85800" y="2651760"/>
            <a:ext cx="267004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$29</a:t>
            </a:r>
            <a:pPr algn="ctr" indent="0" marL="0">
              <a:buNone/>
            </a:pPr>
            <a:r>
              <a:rPr lang="en-US" sz="1400" dirty="0">
                <a:solidFill>
                  <a:srgbClr val="9A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/mo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960120" y="3520440"/>
            <a:ext cx="212140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C9CD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spots &amp; single counters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1005840" y="4480560"/>
            <a:ext cx="21214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1 location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1005840" y="4864608"/>
            <a:ext cx="21214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Up to 2 terminals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1005840" y="5422392"/>
            <a:ext cx="2029968" cy="457200"/>
          </a:xfrm>
          <a:prstGeom prst="roundRect">
            <a:avLst>
              <a:gd name="adj" fmla="val 50000"/>
            </a:avLst>
          </a:prstGeom>
          <a:solidFill>
            <a:srgbClr val="E08A3C"/>
          </a:solidFill>
          <a:ln/>
        </p:spPr>
      </p:sp>
      <p:sp>
        <p:nvSpPr>
          <p:cNvPr id="11" name="Text 9"/>
          <p:cNvSpPr/>
          <p:nvPr/>
        </p:nvSpPr>
        <p:spPr>
          <a:xfrm>
            <a:off x="1005840" y="5422392"/>
            <a:ext cx="20299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529584" y="1691640"/>
            <a:ext cx="2670048" cy="4389120"/>
          </a:xfrm>
          <a:prstGeom prst="roundRect">
            <a:avLst>
              <a:gd name="adj" fmla="val 4110"/>
            </a:avLst>
          </a:prstGeom>
          <a:solidFill>
            <a:srgbClr val="E08A3C"/>
          </a:solidFill>
          <a:ln/>
        </p:spPr>
      </p:sp>
      <p:sp>
        <p:nvSpPr>
          <p:cNvPr id="13" name="Text 11"/>
          <p:cNvSpPr/>
          <p:nvPr/>
        </p:nvSpPr>
        <p:spPr>
          <a:xfrm>
            <a:off x="3529584" y="1892808"/>
            <a:ext cx="26700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1E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POPULAR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529584" y="2258568"/>
            <a:ext cx="26700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rgbClr val="1E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529584" y="2651760"/>
            <a:ext cx="267004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1E23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$79</a:t>
            </a:r>
            <a:pPr algn="ctr" indent="0" marL="0">
              <a:buNone/>
            </a:pPr>
            <a:r>
              <a:rPr lang="en-US" sz="1400" dirty="0">
                <a:solidFill>
                  <a:srgbClr val="5A3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/mo</a:t>
            </a:r>
            <a:endParaRPr lang="en-US" sz="3800" dirty="0"/>
          </a:p>
        </p:txBody>
      </p:sp>
      <p:sp>
        <p:nvSpPr>
          <p:cNvPr id="16" name="Text 14"/>
          <p:cNvSpPr/>
          <p:nvPr/>
        </p:nvSpPr>
        <p:spPr>
          <a:xfrm>
            <a:off x="3803904" y="3520440"/>
            <a:ext cx="212140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5A3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Busy dining rooms, full service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3849624" y="4480560"/>
            <a:ext cx="21214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5A3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1 location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3849624" y="4864608"/>
            <a:ext cx="21214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5A3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Up to 6 terminals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3849624" y="5422392"/>
            <a:ext cx="2029968" cy="457200"/>
          </a:xfrm>
          <a:prstGeom prst="roundRect">
            <a:avLst>
              <a:gd name="adj" fmla="val 50000"/>
            </a:avLst>
          </a:prstGeom>
          <a:solidFill>
            <a:srgbClr val="1E232B"/>
          </a:solidFill>
          <a:ln/>
        </p:spPr>
      </p:sp>
      <p:sp>
        <p:nvSpPr>
          <p:cNvPr id="20" name="Text 18"/>
          <p:cNvSpPr/>
          <p:nvPr/>
        </p:nvSpPr>
        <p:spPr>
          <a:xfrm>
            <a:off x="3849624" y="5422392"/>
            <a:ext cx="20299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373368" y="1691640"/>
            <a:ext cx="2670048" cy="4389120"/>
          </a:xfrm>
          <a:prstGeom prst="roundRect">
            <a:avLst>
              <a:gd name="adj" fmla="val 4110"/>
            </a:avLst>
          </a:prstGeom>
          <a:solidFill>
            <a:srgbClr val="2A313B"/>
          </a:solidFill>
          <a:ln/>
        </p:spPr>
      </p:sp>
      <p:sp>
        <p:nvSpPr>
          <p:cNvPr id="22" name="Text 20"/>
          <p:cNvSpPr/>
          <p:nvPr/>
        </p:nvSpPr>
        <p:spPr>
          <a:xfrm>
            <a:off x="6373368" y="2011680"/>
            <a:ext cx="26700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rgbClr val="E08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373368" y="2651760"/>
            <a:ext cx="267004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$169</a:t>
            </a:r>
            <a:pPr algn="ctr" indent="0" marL="0">
              <a:buNone/>
            </a:pPr>
            <a:r>
              <a:rPr lang="en-US" sz="1400" dirty="0">
                <a:solidFill>
                  <a:srgbClr val="9A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/mo</a:t>
            </a:r>
            <a:endParaRPr lang="en-US" sz="3800" dirty="0"/>
          </a:p>
        </p:txBody>
      </p:sp>
      <p:sp>
        <p:nvSpPr>
          <p:cNvPr id="24" name="Text 22"/>
          <p:cNvSpPr/>
          <p:nvPr/>
        </p:nvSpPr>
        <p:spPr>
          <a:xfrm>
            <a:off x="6647688" y="3520440"/>
            <a:ext cx="212140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C9CD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Groups &amp; multi-location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6693408" y="4480560"/>
            <a:ext cx="21214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Multi-location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6693408" y="4864608"/>
            <a:ext cx="21214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Unlimited terminals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6693408" y="5422392"/>
            <a:ext cx="2029968" cy="457200"/>
          </a:xfrm>
          <a:prstGeom prst="roundRect">
            <a:avLst>
              <a:gd name="adj" fmla="val 50000"/>
            </a:avLst>
          </a:prstGeom>
          <a:solidFill>
            <a:srgbClr val="E08A3C"/>
          </a:solidFill>
          <a:ln/>
        </p:spPr>
      </p:sp>
      <p:sp>
        <p:nvSpPr>
          <p:cNvPr id="28" name="Text 26"/>
          <p:cNvSpPr/>
          <p:nvPr/>
        </p:nvSpPr>
        <p:spPr>
          <a:xfrm>
            <a:off x="6693408" y="5422392"/>
            <a:ext cx="20299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9217152" y="1691640"/>
            <a:ext cx="2670048" cy="4389120"/>
          </a:xfrm>
          <a:prstGeom prst="roundRect">
            <a:avLst>
              <a:gd name="adj" fmla="val 4110"/>
            </a:avLst>
          </a:prstGeom>
          <a:solidFill>
            <a:srgbClr val="2A313B"/>
          </a:solidFill>
          <a:ln/>
        </p:spPr>
      </p:sp>
      <p:sp>
        <p:nvSpPr>
          <p:cNvPr id="30" name="Text 28"/>
          <p:cNvSpPr/>
          <p:nvPr/>
        </p:nvSpPr>
        <p:spPr>
          <a:xfrm>
            <a:off x="9217152" y="2011680"/>
            <a:ext cx="26700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rgbClr val="E08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9217152" y="2651760"/>
            <a:ext cx="267004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Custom</a:t>
            </a:r>
            <a:pPr algn="ctr" indent="0" marL="0">
              <a:buNone/>
            </a:pPr>
            <a:endParaRPr lang="en-US" sz="3800" dirty="0"/>
          </a:p>
        </p:txBody>
      </p:sp>
      <p:sp>
        <p:nvSpPr>
          <p:cNvPr id="32" name="Text 30"/>
          <p:cNvSpPr/>
          <p:nvPr/>
        </p:nvSpPr>
        <p:spPr>
          <a:xfrm>
            <a:off x="9491472" y="3520440"/>
            <a:ext cx="212140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C9CD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Chains, franchises &amp; custom IT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9537192" y="4480560"/>
            <a:ext cx="21214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Unlimited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9537192" y="4864608"/>
            <a:ext cx="21214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On-prem + cloud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9537192" y="5422392"/>
            <a:ext cx="2029968" cy="457200"/>
          </a:xfrm>
          <a:prstGeom prst="roundRect">
            <a:avLst>
              <a:gd name="adj" fmla="val 50000"/>
            </a:avLst>
          </a:prstGeom>
          <a:solidFill>
            <a:srgbClr val="E08A3C"/>
          </a:solidFill>
          <a:ln/>
        </p:spPr>
      </p:sp>
      <p:sp>
        <p:nvSpPr>
          <p:cNvPr id="36" name="Text 34"/>
          <p:cNvSpPr/>
          <p:nvPr/>
        </p:nvSpPr>
        <p:spPr>
          <a:xfrm>
            <a:off x="9537192" y="5422392"/>
            <a:ext cx="20299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Talk to us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685800" y="62636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9A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14-day free trial · annual billing saves two months · prorated changes anytime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E08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INCLUDED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7772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A2D3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Plan comparison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600200"/>
            <a:ext cx="10561320" cy="457200"/>
          </a:xfrm>
          <a:prstGeom prst="rect">
            <a:avLst/>
          </a:prstGeom>
          <a:solidFill>
            <a:srgbClr val="1E232B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1600200"/>
            <a:ext cx="4526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532120" y="160020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Starter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6995160" y="160020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08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458200" y="160020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9921240" y="160020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22960" y="2057400"/>
            <a:ext cx="10561320" cy="379476"/>
          </a:xfrm>
          <a:prstGeom prst="rect">
            <a:avLst/>
          </a:prstGeom>
          <a:solidFill>
            <a:srgbClr val="F4F2ED"/>
          </a:solidFill>
          <a:ln/>
        </p:spPr>
      </p:sp>
      <p:sp>
        <p:nvSpPr>
          <p:cNvPr id="11" name="Text 9"/>
          <p:cNvSpPr/>
          <p:nvPr/>
        </p:nvSpPr>
        <p:spPr>
          <a:xfrm>
            <a:off x="1005840" y="2057400"/>
            <a:ext cx="4526280" cy="3794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A2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POS &amp; digital menu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532120" y="2057400"/>
            <a:ext cx="1463040" cy="3794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C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995160" y="2057400"/>
            <a:ext cx="1463040" cy="3794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471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458200" y="2057400"/>
            <a:ext cx="1463040" cy="3794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C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9921240" y="2057400"/>
            <a:ext cx="1463040" cy="3794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C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005840" y="2436876"/>
            <a:ext cx="4526280" cy="3794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A2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 menu &amp; customer ordering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5532120" y="2436876"/>
            <a:ext cx="1463040" cy="3794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C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995160" y="2436876"/>
            <a:ext cx="1463040" cy="3794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471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458200" y="2436876"/>
            <a:ext cx="1463040" cy="3794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C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9921240" y="2436876"/>
            <a:ext cx="1463040" cy="3794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C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822960" y="2816352"/>
            <a:ext cx="10561320" cy="379476"/>
          </a:xfrm>
          <a:prstGeom prst="rect">
            <a:avLst/>
          </a:prstGeom>
          <a:solidFill>
            <a:srgbClr val="F4F2ED"/>
          </a:solidFill>
          <a:ln/>
        </p:spPr>
      </p:sp>
      <p:sp>
        <p:nvSpPr>
          <p:cNvPr id="22" name="Text 20"/>
          <p:cNvSpPr/>
          <p:nvPr/>
        </p:nvSpPr>
        <p:spPr>
          <a:xfrm>
            <a:off x="1005840" y="2816352"/>
            <a:ext cx="4526280" cy="3794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A2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Kitchen displays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5532120" y="2816352"/>
            <a:ext cx="1463040" cy="3794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A2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screen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6995160" y="2816352"/>
            <a:ext cx="1463040" cy="3794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A2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Unlimited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8458200" y="2816352"/>
            <a:ext cx="1463040" cy="3794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A2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Unlimited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9921240" y="2816352"/>
            <a:ext cx="1463040" cy="3794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A2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Unlimited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1005840" y="3195828"/>
            <a:ext cx="4526280" cy="3794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A2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Tables, floor plan &amp; reservations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5532120" y="3195828"/>
            <a:ext cx="1463040" cy="3794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4C2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995160" y="3195828"/>
            <a:ext cx="1463040" cy="3794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471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8458200" y="3195828"/>
            <a:ext cx="1463040" cy="3794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C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9921240" y="3195828"/>
            <a:ext cx="1463040" cy="3794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C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822960" y="3575304"/>
            <a:ext cx="10561320" cy="379476"/>
          </a:xfrm>
          <a:prstGeom prst="rect">
            <a:avLst/>
          </a:prstGeom>
          <a:solidFill>
            <a:srgbClr val="F4F2ED"/>
          </a:solidFill>
          <a:ln/>
        </p:spPr>
      </p:sp>
      <p:sp>
        <p:nvSpPr>
          <p:cNvPr id="33" name="Text 31"/>
          <p:cNvSpPr/>
          <p:nvPr/>
        </p:nvSpPr>
        <p:spPr>
          <a:xfrm>
            <a:off x="1005840" y="3575304"/>
            <a:ext cx="4526280" cy="3794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A2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sales reports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5532120" y="3575304"/>
            <a:ext cx="1463040" cy="3794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4C2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6995160" y="3575304"/>
            <a:ext cx="1463040" cy="3794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471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8458200" y="3575304"/>
            <a:ext cx="1463040" cy="3794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C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9921240" y="3575304"/>
            <a:ext cx="1463040" cy="3794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C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1005840" y="3954780"/>
            <a:ext cx="4526280" cy="3794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A2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roles &amp; permissions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5532120" y="3954780"/>
            <a:ext cx="1463040" cy="3794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4C2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6995160" y="3954780"/>
            <a:ext cx="1463040" cy="3794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471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8458200" y="3954780"/>
            <a:ext cx="1463040" cy="3794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C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9921240" y="3954780"/>
            <a:ext cx="1463040" cy="3794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C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43" name="Shape 41"/>
          <p:cNvSpPr/>
          <p:nvPr/>
        </p:nvSpPr>
        <p:spPr>
          <a:xfrm>
            <a:off x="822960" y="4334256"/>
            <a:ext cx="10561320" cy="379476"/>
          </a:xfrm>
          <a:prstGeom prst="rect">
            <a:avLst/>
          </a:prstGeom>
          <a:solidFill>
            <a:srgbClr val="F4F2ED"/>
          </a:solidFill>
          <a:ln/>
        </p:spPr>
      </p:sp>
      <p:sp>
        <p:nvSpPr>
          <p:cNvPr id="44" name="Text 42"/>
          <p:cNvSpPr/>
          <p:nvPr/>
        </p:nvSpPr>
        <p:spPr>
          <a:xfrm>
            <a:off x="1005840" y="4334256"/>
            <a:ext cx="4526280" cy="3794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A2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&amp; recipe costing</a:t>
            </a:r>
            <a:endParaRPr lang="en-US" sz="1150" dirty="0"/>
          </a:p>
        </p:txBody>
      </p:sp>
      <p:sp>
        <p:nvSpPr>
          <p:cNvPr id="45" name="Text 43"/>
          <p:cNvSpPr/>
          <p:nvPr/>
        </p:nvSpPr>
        <p:spPr>
          <a:xfrm>
            <a:off x="5532120" y="4334256"/>
            <a:ext cx="1463040" cy="3794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4C2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400" dirty="0"/>
          </a:p>
        </p:txBody>
      </p:sp>
      <p:sp>
        <p:nvSpPr>
          <p:cNvPr id="46" name="Text 44"/>
          <p:cNvSpPr/>
          <p:nvPr/>
        </p:nvSpPr>
        <p:spPr>
          <a:xfrm>
            <a:off x="6995160" y="4334256"/>
            <a:ext cx="1463040" cy="3794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4C2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400" dirty="0"/>
          </a:p>
        </p:txBody>
      </p:sp>
      <p:sp>
        <p:nvSpPr>
          <p:cNvPr id="47" name="Text 45"/>
          <p:cNvSpPr/>
          <p:nvPr/>
        </p:nvSpPr>
        <p:spPr>
          <a:xfrm>
            <a:off x="8458200" y="4334256"/>
            <a:ext cx="1463040" cy="3794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C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48" name="Text 46"/>
          <p:cNvSpPr/>
          <p:nvPr/>
        </p:nvSpPr>
        <p:spPr>
          <a:xfrm>
            <a:off x="9921240" y="4334256"/>
            <a:ext cx="1463040" cy="3794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C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49" name="Text 47"/>
          <p:cNvSpPr/>
          <p:nvPr/>
        </p:nvSpPr>
        <p:spPr>
          <a:xfrm>
            <a:off x="1005840" y="4713732"/>
            <a:ext cx="4526280" cy="3794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A2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Multi-location &amp; menu sync</a:t>
            </a:r>
            <a:endParaRPr lang="en-US" sz="1150" dirty="0"/>
          </a:p>
        </p:txBody>
      </p:sp>
      <p:sp>
        <p:nvSpPr>
          <p:cNvPr id="50" name="Text 48"/>
          <p:cNvSpPr/>
          <p:nvPr/>
        </p:nvSpPr>
        <p:spPr>
          <a:xfrm>
            <a:off x="5532120" y="4713732"/>
            <a:ext cx="1463040" cy="3794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4C2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400" dirty="0"/>
          </a:p>
        </p:txBody>
      </p:sp>
      <p:sp>
        <p:nvSpPr>
          <p:cNvPr id="51" name="Text 49"/>
          <p:cNvSpPr/>
          <p:nvPr/>
        </p:nvSpPr>
        <p:spPr>
          <a:xfrm>
            <a:off x="6995160" y="4713732"/>
            <a:ext cx="1463040" cy="3794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4C2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400" dirty="0"/>
          </a:p>
        </p:txBody>
      </p:sp>
      <p:sp>
        <p:nvSpPr>
          <p:cNvPr id="52" name="Text 50"/>
          <p:cNvSpPr/>
          <p:nvPr/>
        </p:nvSpPr>
        <p:spPr>
          <a:xfrm>
            <a:off x="8458200" y="4713732"/>
            <a:ext cx="1463040" cy="3794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C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53" name="Text 51"/>
          <p:cNvSpPr/>
          <p:nvPr/>
        </p:nvSpPr>
        <p:spPr>
          <a:xfrm>
            <a:off x="9921240" y="4713732"/>
            <a:ext cx="1463040" cy="3794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C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54" name="Shape 52"/>
          <p:cNvSpPr/>
          <p:nvPr/>
        </p:nvSpPr>
        <p:spPr>
          <a:xfrm>
            <a:off x="822960" y="5093208"/>
            <a:ext cx="10561320" cy="379476"/>
          </a:xfrm>
          <a:prstGeom prst="rect">
            <a:avLst/>
          </a:prstGeom>
          <a:solidFill>
            <a:srgbClr val="F4F2ED"/>
          </a:solidFill>
          <a:ln/>
        </p:spPr>
      </p:sp>
      <p:sp>
        <p:nvSpPr>
          <p:cNvPr id="55" name="Text 53"/>
          <p:cNvSpPr/>
          <p:nvPr/>
        </p:nvSpPr>
        <p:spPr>
          <a:xfrm>
            <a:off x="1005840" y="5093208"/>
            <a:ext cx="4526280" cy="3794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A2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analytics, API &amp; webhooks</a:t>
            </a:r>
            <a:endParaRPr lang="en-US" sz="1150" dirty="0"/>
          </a:p>
        </p:txBody>
      </p:sp>
      <p:sp>
        <p:nvSpPr>
          <p:cNvPr id="56" name="Text 54"/>
          <p:cNvSpPr/>
          <p:nvPr/>
        </p:nvSpPr>
        <p:spPr>
          <a:xfrm>
            <a:off x="5532120" y="5093208"/>
            <a:ext cx="1463040" cy="3794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4C2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400" dirty="0"/>
          </a:p>
        </p:txBody>
      </p:sp>
      <p:sp>
        <p:nvSpPr>
          <p:cNvPr id="57" name="Text 55"/>
          <p:cNvSpPr/>
          <p:nvPr/>
        </p:nvSpPr>
        <p:spPr>
          <a:xfrm>
            <a:off x="6995160" y="5093208"/>
            <a:ext cx="1463040" cy="3794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4C2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400" dirty="0"/>
          </a:p>
        </p:txBody>
      </p:sp>
      <p:sp>
        <p:nvSpPr>
          <p:cNvPr id="58" name="Text 56"/>
          <p:cNvSpPr/>
          <p:nvPr/>
        </p:nvSpPr>
        <p:spPr>
          <a:xfrm>
            <a:off x="8458200" y="5093208"/>
            <a:ext cx="1463040" cy="3794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C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59" name="Text 57"/>
          <p:cNvSpPr/>
          <p:nvPr/>
        </p:nvSpPr>
        <p:spPr>
          <a:xfrm>
            <a:off x="9921240" y="5093208"/>
            <a:ext cx="1463040" cy="3794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C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60" name="Text 58"/>
          <p:cNvSpPr/>
          <p:nvPr/>
        </p:nvSpPr>
        <p:spPr>
          <a:xfrm>
            <a:off x="1005840" y="5472684"/>
            <a:ext cx="4526280" cy="3794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A2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Fiscalization &amp; tax compliance</a:t>
            </a:r>
            <a:endParaRPr lang="en-US" sz="1150" dirty="0"/>
          </a:p>
        </p:txBody>
      </p:sp>
      <p:sp>
        <p:nvSpPr>
          <p:cNvPr id="61" name="Text 59"/>
          <p:cNvSpPr/>
          <p:nvPr/>
        </p:nvSpPr>
        <p:spPr>
          <a:xfrm>
            <a:off x="5532120" y="5472684"/>
            <a:ext cx="1463040" cy="3794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4C2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400" dirty="0"/>
          </a:p>
        </p:txBody>
      </p:sp>
      <p:sp>
        <p:nvSpPr>
          <p:cNvPr id="62" name="Text 60"/>
          <p:cNvSpPr/>
          <p:nvPr/>
        </p:nvSpPr>
        <p:spPr>
          <a:xfrm>
            <a:off x="6995160" y="5472684"/>
            <a:ext cx="1463040" cy="3794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4C2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400" dirty="0"/>
          </a:p>
        </p:txBody>
      </p:sp>
      <p:sp>
        <p:nvSpPr>
          <p:cNvPr id="63" name="Text 61"/>
          <p:cNvSpPr/>
          <p:nvPr/>
        </p:nvSpPr>
        <p:spPr>
          <a:xfrm>
            <a:off x="8458200" y="5472684"/>
            <a:ext cx="1463040" cy="3794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4C2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400" dirty="0"/>
          </a:p>
        </p:txBody>
      </p:sp>
      <p:sp>
        <p:nvSpPr>
          <p:cNvPr id="64" name="Text 62"/>
          <p:cNvSpPr/>
          <p:nvPr/>
        </p:nvSpPr>
        <p:spPr>
          <a:xfrm>
            <a:off x="9921240" y="5472684"/>
            <a:ext cx="1463040" cy="3794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C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65" name="Shape 63"/>
          <p:cNvSpPr/>
          <p:nvPr/>
        </p:nvSpPr>
        <p:spPr>
          <a:xfrm>
            <a:off x="822960" y="5852160"/>
            <a:ext cx="10561320" cy="379476"/>
          </a:xfrm>
          <a:prstGeom prst="rect">
            <a:avLst/>
          </a:prstGeom>
          <a:solidFill>
            <a:srgbClr val="F4F2ED"/>
          </a:solidFill>
          <a:ln/>
        </p:spPr>
      </p:sp>
      <p:sp>
        <p:nvSpPr>
          <p:cNvPr id="66" name="Text 64"/>
          <p:cNvSpPr/>
          <p:nvPr/>
        </p:nvSpPr>
        <p:spPr>
          <a:xfrm>
            <a:off x="1005840" y="5852160"/>
            <a:ext cx="4526280" cy="3794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A2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/ on-premise edge</a:t>
            </a:r>
            <a:endParaRPr lang="en-US" sz="1150" dirty="0"/>
          </a:p>
        </p:txBody>
      </p:sp>
      <p:sp>
        <p:nvSpPr>
          <p:cNvPr id="67" name="Text 65"/>
          <p:cNvSpPr/>
          <p:nvPr/>
        </p:nvSpPr>
        <p:spPr>
          <a:xfrm>
            <a:off x="5532120" y="5852160"/>
            <a:ext cx="1463040" cy="3794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4C2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400" dirty="0"/>
          </a:p>
        </p:txBody>
      </p:sp>
      <p:sp>
        <p:nvSpPr>
          <p:cNvPr id="68" name="Text 66"/>
          <p:cNvSpPr/>
          <p:nvPr/>
        </p:nvSpPr>
        <p:spPr>
          <a:xfrm>
            <a:off x="6995160" y="5852160"/>
            <a:ext cx="1463040" cy="3794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4C2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400" dirty="0"/>
          </a:p>
        </p:txBody>
      </p:sp>
      <p:sp>
        <p:nvSpPr>
          <p:cNvPr id="69" name="Text 67"/>
          <p:cNvSpPr/>
          <p:nvPr/>
        </p:nvSpPr>
        <p:spPr>
          <a:xfrm>
            <a:off x="8458200" y="5852160"/>
            <a:ext cx="1463040" cy="3794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4C2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400" dirty="0"/>
          </a:p>
        </p:txBody>
      </p:sp>
      <p:sp>
        <p:nvSpPr>
          <p:cNvPr id="70" name="Text 68"/>
          <p:cNvSpPr/>
          <p:nvPr/>
        </p:nvSpPr>
        <p:spPr>
          <a:xfrm>
            <a:off x="9921240" y="5852160"/>
            <a:ext cx="1463040" cy="3794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C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71" name="Text 69"/>
          <p:cNvSpPr/>
          <p:nvPr/>
        </p:nvSpPr>
        <p:spPr>
          <a:xfrm>
            <a:off x="1005840" y="6231636"/>
            <a:ext cx="4526280" cy="3794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A2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IT work &amp; integrations</a:t>
            </a:r>
            <a:endParaRPr lang="en-US" sz="1150" dirty="0"/>
          </a:p>
        </p:txBody>
      </p:sp>
      <p:sp>
        <p:nvSpPr>
          <p:cNvPr id="72" name="Text 70"/>
          <p:cNvSpPr/>
          <p:nvPr/>
        </p:nvSpPr>
        <p:spPr>
          <a:xfrm>
            <a:off x="5532120" y="6231636"/>
            <a:ext cx="1463040" cy="3794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4C2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400" dirty="0"/>
          </a:p>
        </p:txBody>
      </p:sp>
      <p:sp>
        <p:nvSpPr>
          <p:cNvPr id="73" name="Text 71"/>
          <p:cNvSpPr/>
          <p:nvPr/>
        </p:nvSpPr>
        <p:spPr>
          <a:xfrm>
            <a:off x="6995160" y="6231636"/>
            <a:ext cx="1463040" cy="3794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4C2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400" dirty="0"/>
          </a:p>
        </p:txBody>
      </p:sp>
      <p:sp>
        <p:nvSpPr>
          <p:cNvPr id="74" name="Text 72"/>
          <p:cNvSpPr/>
          <p:nvPr/>
        </p:nvSpPr>
        <p:spPr>
          <a:xfrm>
            <a:off x="8458200" y="6231636"/>
            <a:ext cx="1463040" cy="3794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4C2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400" dirty="0"/>
          </a:p>
        </p:txBody>
      </p:sp>
      <p:sp>
        <p:nvSpPr>
          <p:cNvPr id="75" name="Text 73"/>
          <p:cNvSpPr/>
          <p:nvPr/>
        </p:nvSpPr>
        <p:spPr>
          <a:xfrm>
            <a:off x="9921240" y="6231636"/>
            <a:ext cx="1463040" cy="3794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C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76" name="Shape 74"/>
          <p:cNvSpPr/>
          <p:nvPr/>
        </p:nvSpPr>
        <p:spPr>
          <a:xfrm>
            <a:off x="6995160" y="1600200"/>
            <a:ext cx="1463040" cy="5010912"/>
          </a:xfrm>
          <a:prstGeom prst="rect">
            <a:avLst/>
          </a:prstGeom>
          <a:ln w="19050">
            <a:solidFill>
              <a:srgbClr val="E08A3C"/>
            </a:solidFill>
            <a:prstDash val="solid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3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400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E08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RESTAURANT OS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Priced for you, built to scale.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2331720"/>
            <a:ext cx="5212080" cy="1645920"/>
          </a:xfrm>
          <a:prstGeom prst="roundRect">
            <a:avLst>
              <a:gd name="adj" fmla="val 6667"/>
            </a:avLst>
          </a:prstGeom>
          <a:solidFill>
            <a:srgbClr val="2A313B"/>
          </a:solidFill>
          <a:ln/>
        </p:spPr>
      </p:sp>
      <p:sp>
        <p:nvSpPr>
          <p:cNvPr id="5" name="Text 3"/>
          <p:cNvSpPr/>
          <p:nvPr/>
        </p:nvSpPr>
        <p:spPr>
          <a:xfrm>
            <a:off x="1143000" y="2560320"/>
            <a:ext cx="21031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E08A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0%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3200400" y="2606040"/>
            <a:ext cx="265176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C9CD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Commission on every order — flat monthly pricing only.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400800" y="2331720"/>
            <a:ext cx="5212080" cy="1645920"/>
          </a:xfrm>
          <a:prstGeom prst="roundRect">
            <a:avLst>
              <a:gd name="adj" fmla="val 6667"/>
            </a:avLst>
          </a:prstGeom>
          <a:solidFill>
            <a:srgbClr val="2A313B"/>
          </a:solidFill>
          <a:ln/>
        </p:spPr>
      </p:sp>
      <p:sp>
        <p:nvSpPr>
          <p:cNvPr id="8" name="Text 6"/>
          <p:cNvSpPr/>
          <p:nvPr/>
        </p:nvSpPr>
        <p:spPr>
          <a:xfrm>
            <a:off x="6720840" y="2560320"/>
            <a:ext cx="21031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E08A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5200" dirty="0"/>
          </a:p>
        </p:txBody>
      </p:sp>
      <p:sp>
        <p:nvSpPr>
          <p:cNvPr id="9" name="Text 7"/>
          <p:cNvSpPr/>
          <p:nvPr/>
        </p:nvSpPr>
        <p:spPr>
          <a:xfrm>
            <a:off x="8778240" y="2606040"/>
            <a:ext cx="265176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C9CD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Languages built in — Armenian, Russian, English.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822960" y="4251960"/>
            <a:ext cx="5212080" cy="1645920"/>
          </a:xfrm>
          <a:prstGeom prst="roundRect">
            <a:avLst>
              <a:gd name="adj" fmla="val 6667"/>
            </a:avLst>
          </a:prstGeom>
          <a:solidFill>
            <a:srgbClr val="2A313B"/>
          </a:solidFill>
          <a:ln/>
        </p:spPr>
      </p:sp>
      <p:sp>
        <p:nvSpPr>
          <p:cNvPr id="11" name="Text 9"/>
          <p:cNvSpPr/>
          <p:nvPr/>
        </p:nvSpPr>
        <p:spPr>
          <a:xfrm>
            <a:off x="1143000" y="4480560"/>
            <a:ext cx="21031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E08A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5200" dirty="0"/>
          </a:p>
        </p:txBody>
      </p:sp>
      <p:sp>
        <p:nvSpPr>
          <p:cNvPr id="12" name="Text 10"/>
          <p:cNvSpPr/>
          <p:nvPr/>
        </p:nvSpPr>
        <p:spPr>
          <a:xfrm>
            <a:off x="3200400" y="4526280"/>
            <a:ext cx="265176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C9CD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Connected system replacing your POS, menu, KDS and stock tools.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400800" y="4251960"/>
            <a:ext cx="5212080" cy="1645920"/>
          </a:xfrm>
          <a:prstGeom prst="roundRect">
            <a:avLst>
              <a:gd name="adj" fmla="val 6667"/>
            </a:avLst>
          </a:prstGeom>
          <a:solidFill>
            <a:srgbClr val="2A313B"/>
          </a:solidFill>
          <a:ln/>
        </p:spPr>
      </p:sp>
      <p:sp>
        <p:nvSpPr>
          <p:cNvPr id="14" name="Text 12"/>
          <p:cNvSpPr/>
          <p:nvPr/>
        </p:nvSpPr>
        <p:spPr>
          <a:xfrm>
            <a:off x="6720840" y="4480560"/>
            <a:ext cx="21031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E08A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24/7</a:t>
            </a:r>
            <a:endParaRPr lang="en-US" sz="5200" dirty="0"/>
          </a:p>
        </p:txBody>
      </p:sp>
      <p:sp>
        <p:nvSpPr>
          <p:cNvPr id="15" name="Text 13"/>
          <p:cNvSpPr/>
          <p:nvPr/>
        </p:nvSpPr>
        <p:spPr>
          <a:xfrm>
            <a:off x="8778240" y="4526280"/>
            <a:ext cx="265176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C9CD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serving — offline-ready edge deployment.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3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822960"/>
            <a:ext cx="566928" cy="566928"/>
          </a:xfrm>
          <a:prstGeom prst="roundRect">
            <a:avLst>
              <a:gd name="adj" fmla="val 22581"/>
            </a:avLst>
          </a:prstGeom>
          <a:solidFill>
            <a:srgbClr val="E08A3C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82296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E23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517904" y="86868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RESTAURANT OS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22960" y="2377440"/>
            <a:ext cx="96012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Ready to run your</a:t>
            </a:r>
            <a:endParaRPr lang="en-US" sz="42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restaurant on one system?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841248" y="4160520"/>
            <a:ext cx="8686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C9CD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a 14-day free trial, or talk to us about a custom Enterprise setup with dedicated IT work.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841248" y="5257800"/>
            <a:ext cx="2651760" cy="640080"/>
          </a:xfrm>
          <a:prstGeom prst="roundRect">
            <a:avLst>
              <a:gd name="adj" fmla="val 50000"/>
            </a:avLst>
          </a:prstGeom>
          <a:solidFill>
            <a:srgbClr val="E08A3C"/>
          </a:solidFill>
          <a:ln/>
        </p:spPr>
      </p:sp>
      <p:sp>
        <p:nvSpPr>
          <p:cNvPr id="8" name="Text 6"/>
          <p:cNvSpPr/>
          <p:nvPr/>
        </p:nvSpPr>
        <p:spPr>
          <a:xfrm>
            <a:off x="841248" y="525780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free trial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657600" y="5257800"/>
            <a:ext cx="2651760" cy="640080"/>
          </a:xfrm>
          <a:prstGeom prst="roundRect">
            <a:avLst>
              <a:gd name="adj" fmla="val 50000"/>
            </a:avLst>
          </a:prstGeom>
          <a:ln w="19050">
            <a:solidFill>
              <a:srgbClr val="7A808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0" y="525780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a demo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Restaurant OS — Product &amp; Plans</dc:title>
  <dc:subject>PptxGenJS Presentation</dc:subject>
  <dc:creator>Restaurant OS</dc:creator>
  <cp:lastModifiedBy>Restaurant OS</cp:lastModifiedBy>
  <cp:revision>1</cp:revision>
  <dcterms:created xsi:type="dcterms:W3CDTF">2026-07-11T10:59:39Z</dcterms:created>
  <dcterms:modified xsi:type="dcterms:W3CDTF">2026-07-11T10:59:39Z</dcterms:modified>
</cp:coreProperties>
</file>