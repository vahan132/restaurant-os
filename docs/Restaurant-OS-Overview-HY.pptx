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0"/>
            <a:ext cx="3870655" cy="6858000"/>
          </a:xfrm>
          <a:prstGeom prst="rect">
            <a:avLst/>
          </a:prstGeom>
          <a:solidFill>
            <a:srgbClr val="2A313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7724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08A3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32B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17904" y="822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Օպերացիոն համակարգ</a:t>
            </a:r>
            <a:endParaRPr lang="en-US" sz="3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ժամանակակից</a:t>
            </a:r>
            <a:endParaRPr lang="en-US" sz="3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ռեստորանների համար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41248" y="4480560"/>
            <a:ext cx="7040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Մեկ հարթակ՝ պատվերների, խոհանոցի, սրահի, պահեստի և հաշվետվությունների համար — ֆիքսված ամսական վճար, առանց պատվերից գանձումների։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54864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08A3C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59536" y="61996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հարթակ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18688" y="54864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08A3C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4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236976" y="61996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փաթեթ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96128" y="54864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08A3C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614416" y="61996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պատվերից գանձում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0" y="1371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POS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0" y="20299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QR մենյու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0" y="268833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Խոհանոցի էկրան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0" y="334670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Ամրագրումներ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0" y="400507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Պահեստ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0" y="4663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Անալիտիկա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ԽՆԴԻՐԸ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2A2D34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Ռեստորան կառավարել հինգ</a:t>
            </a:r>
            <a:endParaRPr lang="en-US" sz="3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2A2D34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իրարից անջատ գործիքով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F4F2ED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" y="3054096"/>
            <a:ext cx="502920" cy="502920"/>
          </a:xfrm>
          <a:prstGeom prst="ellipse">
            <a:avLst/>
          </a:prstGeom>
          <a:solidFill>
            <a:srgbClr val="E08A3C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" y="30540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210" dirty="0"/>
          </a:p>
        </p:txBody>
      </p:sp>
      <p:sp>
        <p:nvSpPr>
          <p:cNvPr id="7" name="Text 5"/>
          <p:cNvSpPr/>
          <p:nvPr/>
        </p:nvSpPr>
        <p:spPr>
          <a:xfrm>
            <a:off x="1828800" y="29260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Բաժանված համակարգ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28800" y="3419856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Առանձին հավելվածներ POS-ի, մենյուի, խոհանոցի և ամրագրումների համար, որոնք իրար հետ չեն կապվում։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0" y="274320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F4F2ED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93408" y="3054096"/>
            <a:ext cx="502920" cy="502920"/>
          </a:xfrm>
          <a:prstGeom prst="ellipse">
            <a:avLst/>
          </a:prstGeom>
          <a:solidFill>
            <a:srgbClr val="E08A3C"/>
          </a:solidFill>
          <a:ln/>
        </p:spPr>
      </p:sp>
      <p:sp>
        <p:nvSpPr>
          <p:cNvPr id="11" name="Text 9"/>
          <p:cNvSpPr/>
          <p:nvPr/>
        </p:nvSpPr>
        <p:spPr>
          <a:xfrm>
            <a:off x="6693408" y="30540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210" dirty="0"/>
          </a:p>
        </p:txBody>
      </p:sp>
      <p:sp>
        <p:nvSpPr>
          <p:cNvPr id="12" name="Text 10"/>
          <p:cNvSpPr/>
          <p:nvPr/>
        </p:nvSpPr>
        <p:spPr>
          <a:xfrm>
            <a:off x="7406640" y="29260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Պատվերից գանձումներ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06640" y="3419856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Երրորդ կողմի հարթակները մասնաբաժին են վերցնում ձեր յուրաքանչյուր պատվերից։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448056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F4F2ED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15568" y="4791456"/>
            <a:ext cx="502920" cy="502920"/>
          </a:xfrm>
          <a:prstGeom prst="ellipse">
            <a:avLst/>
          </a:prstGeom>
          <a:solidFill>
            <a:srgbClr val="E08A3C"/>
          </a:solidFill>
          <a:ln/>
        </p:spPr>
      </p:sp>
      <p:sp>
        <p:nvSpPr>
          <p:cNvPr id="16" name="Text 14"/>
          <p:cNvSpPr/>
          <p:nvPr/>
        </p:nvSpPr>
        <p:spPr>
          <a:xfrm>
            <a:off x="1115568" y="47914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210" dirty="0"/>
          </a:p>
        </p:txBody>
      </p:sp>
      <p:sp>
        <p:nvSpPr>
          <p:cNvPr id="17" name="Text 15"/>
          <p:cNvSpPr/>
          <p:nvPr/>
        </p:nvSpPr>
        <p:spPr>
          <a:xfrm>
            <a:off x="1828800" y="466344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Չկա պահեստի ու ծախսի վերահսկում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828800" y="5157216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Պահեստի, բաղադրատոմսի արժեքի կամ մարժայի իրական պատկեր չկա, մինչև արդեն ուշ լինի։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0" y="448056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F4F2ED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93408" y="4791456"/>
            <a:ext cx="502920" cy="502920"/>
          </a:xfrm>
          <a:prstGeom prst="ellipse">
            <a:avLst/>
          </a:prstGeom>
          <a:solidFill>
            <a:srgbClr val="E08A3C"/>
          </a:solidFill>
          <a:ln/>
        </p:spPr>
      </p:sp>
      <p:sp>
        <p:nvSpPr>
          <p:cNvPr id="21" name="Text 19"/>
          <p:cNvSpPr/>
          <p:nvPr/>
        </p:nvSpPr>
        <p:spPr>
          <a:xfrm>
            <a:off x="6693408" y="47914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210" dirty="0"/>
          </a:p>
        </p:txBody>
      </p:sp>
      <p:sp>
        <p:nvSpPr>
          <p:cNvPr id="22" name="Text 20"/>
          <p:cNvSpPr/>
          <p:nvPr/>
        </p:nvSpPr>
        <p:spPr>
          <a:xfrm>
            <a:off x="7406640" y="466344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Չկա տվյալների միասնական աղբյուր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06640" y="5157216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Մի քանի մասնաճյուղ ունեցող սեփականատերերը ամեն շաբաթ ձեռքով են միավորում հաշվետվությունները։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ԼՈՒԾՈՒՄԸ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Ամեն ինչ՝ սրահից մինչև գրասենյակ,</a:t>
            </a:r>
            <a:endParaRPr lang="en-US" sz="2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մեկ միասնական համակարգում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2A313B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971800"/>
            <a:ext cx="685800" cy="685800"/>
          </a:xfrm>
          <a:prstGeom prst="ellipse">
            <a:avLst/>
          </a:prstGeom>
          <a:solidFill>
            <a:srgbClr val="E08A3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9718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32B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43000" y="38404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Հյուրերը պատվիրում են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143000" y="443484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մենյու, բջջային հավելված կամ մատուցողի POS — յուրաքանչյուր պատվեր հասնում է մեկ տեղ։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26280" y="265176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2A313B"/>
          </a:solidFill>
          <a:ln/>
        </p:spPr>
      </p:sp>
      <p:sp>
        <p:nvSpPr>
          <p:cNvPr id="10" name="Shape 8"/>
          <p:cNvSpPr/>
          <p:nvPr/>
        </p:nvSpPr>
        <p:spPr>
          <a:xfrm>
            <a:off x="4846320" y="2971800"/>
            <a:ext cx="685800" cy="685800"/>
          </a:xfrm>
          <a:prstGeom prst="ellipse">
            <a:avLst/>
          </a:prstGeom>
          <a:solidFill>
            <a:srgbClr val="2C7A6B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29718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32B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846320" y="38404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Խոհանոցը պատրաստում է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846320" y="443484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Խոհանոցի էկրանն իրական ժամանակում ուղղորդում է պատվերները ճիշտ բաժին։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265176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2A313B"/>
          </a:solidFill>
          <a:ln/>
        </p:spPr>
      </p:sp>
      <p:sp>
        <p:nvSpPr>
          <p:cNvPr id="15" name="Shape 13"/>
          <p:cNvSpPr/>
          <p:nvPr/>
        </p:nvSpPr>
        <p:spPr>
          <a:xfrm>
            <a:off x="8549640" y="2971800"/>
            <a:ext cx="685800" cy="685800"/>
          </a:xfrm>
          <a:prstGeom prst="ellipse">
            <a:avLst/>
          </a:prstGeom>
          <a:solidFill>
            <a:srgbClr val="E08A3C"/>
          </a:solidFill>
          <a:ln/>
        </p:spPr>
      </p:sp>
      <p:sp>
        <p:nvSpPr>
          <p:cNvPr id="16" name="Text 14"/>
          <p:cNvSpPr/>
          <p:nvPr/>
        </p:nvSpPr>
        <p:spPr>
          <a:xfrm>
            <a:off x="8549640" y="29718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32B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549640" y="38404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Դուք կառավարում եք բիզնեսը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549640" y="443484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Պահեստ, անձնակազմ, հաշվետվություններ և մասնաճյուղերի կառավարում՝ մեկ վահանակից։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61722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Աշխատում է առցանց, անցանց և տեղական սերվերով՝ իրական ժամանակի համաժամացմամբ բոլոր սարքերում։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ԻՆՉ ԵՔ ՍՏԱՆՈՒՄ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D34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Հիմնական գործառույթներ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3602736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992" y="2057400"/>
            <a:ext cx="475488" cy="475488"/>
          </a:xfrm>
          <a:prstGeom prst="ellipse">
            <a:avLst/>
          </a:prstGeom>
          <a:solidFill>
            <a:srgbClr val="E08A3C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20574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144" dirty="0"/>
          </a:p>
        </p:txBody>
      </p:sp>
      <p:sp>
        <p:nvSpPr>
          <p:cNvPr id="7" name="Text 5"/>
          <p:cNvSpPr/>
          <p:nvPr/>
        </p:nvSpPr>
        <p:spPr>
          <a:xfrm>
            <a:off x="1719072" y="1984248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Արագ POS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719072" y="2441448"/>
            <a:ext cx="25786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Հպումով պատվերներ պլանշետով՝ մատուցողների և գանձապահների համար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45152" y="1783080"/>
            <a:ext cx="3602736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01184" y="2057400"/>
            <a:ext cx="475488" cy="475488"/>
          </a:xfrm>
          <a:prstGeom prst="ellipse">
            <a:avLst/>
          </a:prstGeom>
          <a:solidFill>
            <a:srgbClr val="2C7A6B"/>
          </a:solidFill>
          <a:ln/>
        </p:spPr>
      </p:sp>
      <p:sp>
        <p:nvSpPr>
          <p:cNvPr id="11" name="Text 9"/>
          <p:cNvSpPr/>
          <p:nvPr/>
        </p:nvSpPr>
        <p:spPr>
          <a:xfrm>
            <a:off x="4901184" y="20574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144" dirty="0"/>
          </a:p>
        </p:txBody>
      </p:sp>
      <p:sp>
        <p:nvSpPr>
          <p:cNvPr id="12" name="Text 10"/>
          <p:cNvSpPr/>
          <p:nvPr/>
        </p:nvSpPr>
        <p:spPr>
          <a:xfrm>
            <a:off x="5541264" y="1984248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և բջջային պատվերներ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541264" y="2441448"/>
            <a:ext cx="25786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Հյուրերը պատվիրում են սեղանից կամ հավելվածից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467344" y="1783080"/>
            <a:ext cx="3602736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23376" y="2057400"/>
            <a:ext cx="475488" cy="475488"/>
          </a:xfrm>
          <a:prstGeom prst="ellipse">
            <a:avLst/>
          </a:prstGeom>
          <a:solidFill>
            <a:srgbClr val="E08A3C"/>
          </a:solidFill>
          <a:ln/>
        </p:spPr>
      </p:sp>
      <p:sp>
        <p:nvSpPr>
          <p:cNvPr id="16" name="Text 14"/>
          <p:cNvSpPr/>
          <p:nvPr/>
        </p:nvSpPr>
        <p:spPr>
          <a:xfrm>
            <a:off x="8723376" y="20574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144" dirty="0"/>
          </a:p>
        </p:txBody>
      </p:sp>
      <p:sp>
        <p:nvSpPr>
          <p:cNvPr id="17" name="Text 15"/>
          <p:cNvSpPr/>
          <p:nvPr/>
        </p:nvSpPr>
        <p:spPr>
          <a:xfrm>
            <a:off x="9363456" y="1984248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Խոհանոցի էկրան (KDS)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363456" y="2441448"/>
            <a:ext cx="25786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Պատվերներ՝ ուղղորդված ըստ բաժինների, իրական ժամանակում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2960" y="3319272"/>
            <a:ext cx="3602736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8992" y="3593592"/>
            <a:ext cx="475488" cy="475488"/>
          </a:xfrm>
          <a:prstGeom prst="ellipse">
            <a:avLst/>
          </a:prstGeom>
          <a:solidFill>
            <a:srgbClr val="2C7A6B"/>
          </a:solidFill>
          <a:ln/>
        </p:spPr>
      </p:sp>
      <p:sp>
        <p:nvSpPr>
          <p:cNvPr id="21" name="Text 19"/>
          <p:cNvSpPr/>
          <p:nvPr/>
        </p:nvSpPr>
        <p:spPr>
          <a:xfrm>
            <a:off x="1078992" y="35935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144" dirty="0"/>
          </a:p>
        </p:txBody>
      </p:sp>
      <p:sp>
        <p:nvSpPr>
          <p:cNvPr id="22" name="Text 20"/>
          <p:cNvSpPr/>
          <p:nvPr/>
        </p:nvSpPr>
        <p:spPr>
          <a:xfrm>
            <a:off x="1719072" y="3520440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Մենյու և հավելումներ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719072" y="3977640"/>
            <a:ext cx="25786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Կատեգորիաներ, ապրանքներ, հավելումների խմբեր, ալերգեններ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45152" y="3319272"/>
            <a:ext cx="3602736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01184" y="3593592"/>
            <a:ext cx="475488" cy="475488"/>
          </a:xfrm>
          <a:prstGeom prst="ellipse">
            <a:avLst/>
          </a:prstGeom>
          <a:solidFill>
            <a:srgbClr val="E08A3C"/>
          </a:solidFill>
          <a:ln/>
        </p:spPr>
      </p:sp>
      <p:sp>
        <p:nvSpPr>
          <p:cNvPr id="26" name="Text 24"/>
          <p:cNvSpPr/>
          <p:nvPr/>
        </p:nvSpPr>
        <p:spPr>
          <a:xfrm>
            <a:off x="4901184" y="35935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144" dirty="0"/>
          </a:p>
        </p:txBody>
      </p:sp>
      <p:sp>
        <p:nvSpPr>
          <p:cNvPr id="27" name="Text 25"/>
          <p:cNvSpPr/>
          <p:nvPr/>
        </p:nvSpPr>
        <p:spPr>
          <a:xfrm>
            <a:off x="5541264" y="3520440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Սեղաններ և հատակագիծ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541264" y="3977640"/>
            <a:ext cx="25786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Դյուրին դասավորություն՝ սեղանների ընթացիկ կարգավիճակով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467344" y="3319272"/>
            <a:ext cx="3602736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23376" y="3593592"/>
            <a:ext cx="475488" cy="475488"/>
          </a:xfrm>
          <a:prstGeom prst="ellipse">
            <a:avLst/>
          </a:prstGeom>
          <a:solidFill>
            <a:srgbClr val="2C7A6B"/>
          </a:solidFill>
          <a:ln/>
        </p:spPr>
      </p:sp>
      <p:sp>
        <p:nvSpPr>
          <p:cNvPr id="31" name="Text 29"/>
          <p:cNvSpPr/>
          <p:nvPr/>
        </p:nvSpPr>
        <p:spPr>
          <a:xfrm>
            <a:off x="8723376" y="35935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144" dirty="0"/>
          </a:p>
        </p:txBody>
      </p:sp>
      <p:sp>
        <p:nvSpPr>
          <p:cNvPr id="32" name="Text 30"/>
          <p:cNvSpPr/>
          <p:nvPr/>
        </p:nvSpPr>
        <p:spPr>
          <a:xfrm>
            <a:off x="9363456" y="3520440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Ամրագրումներ և հերթ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9363456" y="3977640"/>
            <a:ext cx="25786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Ամրագրումներ, սպասման ցուցակ և բաց թողնված զանգերի գրանցում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22960" y="4855464"/>
            <a:ext cx="3602736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8992" y="5129784"/>
            <a:ext cx="475488" cy="475488"/>
          </a:xfrm>
          <a:prstGeom prst="ellipse">
            <a:avLst/>
          </a:prstGeom>
          <a:solidFill>
            <a:srgbClr val="E08A3C"/>
          </a:solidFill>
          <a:ln/>
        </p:spPr>
      </p:sp>
      <p:sp>
        <p:nvSpPr>
          <p:cNvPr id="36" name="Text 34"/>
          <p:cNvSpPr/>
          <p:nvPr/>
        </p:nvSpPr>
        <p:spPr>
          <a:xfrm>
            <a:off x="1078992" y="51297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144" dirty="0"/>
          </a:p>
        </p:txBody>
      </p:sp>
      <p:sp>
        <p:nvSpPr>
          <p:cNvPr id="37" name="Text 35"/>
          <p:cNvSpPr/>
          <p:nvPr/>
        </p:nvSpPr>
        <p:spPr>
          <a:xfrm>
            <a:off x="1719072" y="5056632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Վճարումներ և ֆիսկալ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1719072" y="5513832"/>
            <a:ext cx="25786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Կանխիկ/քարտ վճարումներ՝ հարկային ֆիսկալիզացիայով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645152" y="4855464"/>
            <a:ext cx="3602736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01184" y="5129784"/>
            <a:ext cx="475488" cy="475488"/>
          </a:xfrm>
          <a:prstGeom prst="ellipse">
            <a:avLst/>
          </a:prstGeom>
          <a:solidFill>
            <a:srgbClr val="2C7A6B"/>
          </a:solidFill>
          <a:ln/>
        </p:spPr>
      </p:sp>
      <p:sp>
        <p:nvSpPr>
          <p:cNvPr id="41" name="Text 39"/>
          <p:cNvSpPr/>
          <p:nvPr/>
        </p:nvSpPr>
        <p:spPr>
          <a:xfrm>
            <a:off x="4901184" y="51297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144" dirty="0"/>
          </a:p>
        </p:txBody>
      </p:sp>
      <p:sp>
        <p:nvSpPr>
          <p:cNvPr id="42" name="Text 40"/>
          <p:cNvSpPr/>
          <p:nvPr/>
        </p:nvSpPr>
        <p:spPr>
          <a:xfrm>
            <a:off x="5541264" y="5056632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Պահեստ և ինքնարժեք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5541264" y="5513832"/>
            <a:ext cx="25786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Պաշարներ, մատակարարներ, FIFO շերտեր, մենյուի ինքնարժեք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467344" y="4855464"/>
            <a:ext cx="3602736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723376" y="5129784"/>
            <a:ext cx="475488" cy="475488"/>
          </a:xfrm>
          <a:prstGeom prst="ellipse">
            <a:avLst/>
          </a:prstGeom>
          <a:solidFill>
            <a:srgbClr val="E08A3C"/>
          </a:solidFill>
          <a:ln/>
        </p:spPr>
      </p:sp>
      <p:sp>
        <p:nvSpPr>
          <p:cNvPr id="46" name="Text 44"/>
          <p:cNvSpPr/>
          <p:nvPr/>
        </p:nvSpPr>
        <p:spPr>
          <a:xfrm>
            <a:off x="8723376" y="51297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144" dirty="0"/>
          </a:p>
        </p:txBody>
      </p:sp>
      <p:sp>
        <p:nvSpPr>
          <p:cNvPr id="47" name="Text 45"/>
          <p:cNvSpPr/>
          <p:nvPr/>
        </p:nvSpPr>
        <p:spPr>
          <a:xfrm>
            <a:off x="9363456" y="5056632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Անալիտիկա և արտահանում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9363456" y="5513832"/>
            <a:ext cx="25786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Իրական ժամանակի վաճառք, վահանակներ, Excel/CSV արտահանում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ՍՏԵՂԾՎԱԾ ՌԵՍՏՈՐԱՏՈՐՆԵՐԻ ՀԱՄԱՐ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Հնարավորություններ, որ POS համակարգերի մեծ մասը չունի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12064" cy="512064"/>
          </a:xfrm>
          <a:prstGeom prst="ellipse">
            <a:avLst/>
          </a:prstGeom>
          <a:solidFill>
            <a:srgbClr val="E08A3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32" dirty="0"/>
          </a:p>
        </p:txBody>
      </p:sp>
      <p:sp>
        <p:nvSpPr>
          <p:cNvPr id="6" name="Text 4"/>
          <p:cNvSpPr/>
          <p:nvPr/>
        </p:nvSpPr>
        <p:spPr>
          <a:xfrm>
            <a:off x="1554480" y="1874520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Բազմամասնաճյուղ և ֆրանշիզա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303520" y="1874520"/>
            <a:ext cx="6355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Կազմակերպություն → ռեստորան → մասնաճյուղ հիերարխիա, մենյուի համաժամացում մասնաճյուղերի միջև, համախմբված հաշվետվություններ։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862072"/>
            <a:ext cx="512064" cy="512064"/>
          </a:xfrm>
          <a:prstGeom prst="ellipse">
            <a:avLst/>
          </a:prstGeom>
          <a:solidFill>
            <a:srgbClr val="2C7A6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86207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32" dirty="0"/>
          </a:p>
        </p:txBody>
      </p:sp>
      <p:sp>
        <p:nvSpPr>
          <p:cNvPr id="10" name="Text 8"/>
          <p:cNvSpPr/>
          <p:nvPr/>
        </p:nvSpPr>
        <p:spPr>
          <a:xfrm>
            <a:off x="1554480" y="2770632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Անցանց և տեղական տեղակայում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303520" y="2770632"/>
            <a:ext cx="6355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Տեղական սերվերները համաժամացմամբ ապահովում են աշխատանքը նույնիսկ ինտերնետի բացակայության դեպքում։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758184"/>
            <a:ext cx="512064" cy="512064"/>
          </a:xfrm>
          <a:prstGeom prst="ellipse">
            <a:avLst/>
          </a:prstGeom>
          <a:solidFill>
            <a:srgbClr val="E08A3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75818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32" dirty="0"/>
          </a:p>
        </p:txBody>
      </p:sp>
      <p:sp>
        <p:nvSpPr>
          <p:cNvPr id="14" name="Text 12"/>
          <p:cNvSpPr/>
          <p:nvPr/>
        </p:nvSpPr>
        <p:spPr>
          <a:xfrm>
            <a:off x="1554480" y="3666744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Անձնակազմի դերեր և PIN մուտք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303520" y="3666744"/>
            <a:ext cx="6355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Մանրամասն իրավունքներ (սեփականատեր, մենեջեր, մատուցող, գանձապահ + հատուկ), արագ PIN/սարքով մուտք յուրաքանչյուր տերմինալում։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654296"/>
            <a:ext cx="512064" cy="512064"/>
          </a:xfrm>
          <a:prstGeom prst="ellipse">
            <a:avLst/>
          </a:prstGeom>
          <a:solidFill>
            <a:srgbClr val="2C7A6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6542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32" dirty="0"/>
          </a:p>
        </p:txBody>
      </p:sp>
      <p:sp>
        <p:nvSpPr>
          <p:cNvPr id="18" name="Text 16"/>
          <p:cNvSpPr/>
          <p:nvPr/>
        </p:nvSpPr>
        <p:spPr>
          <a:xfrm>
            <a:off x="1554480" y="4562856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Ֆիսկալիզացիա և համապատասխանություն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303520" y="4562856"/>
            <a:ext cx="6355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ՀԴՄ (EHDM) ֆիսկալ սարքերի ինտեգրում և ապրանքային հարկային կոդեր՝ տեղական հարկային պահանջներին համապատասխան։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5550408"/>
            <a:ext cx="512064" cy="512064"/>
          </a:xfrm>
          <a:prstGeom prst="ellipse">
            <a:avLst/>
          </a:prstGeom>
          <a:solidFill>
            <a:srgbClr val="E08A3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5504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32" dirty="0"/>
          </a:p>
        </p:txBody>
      </p:sp>
      <p:sp>
        <p:nvSpPr>
          <p:cNvPr id="22" name="Text 20"/>
          <p:cNvSpPr/>
          <p:nvPr/>
        </p:nvSpPr>
        <p:spPr>
          <a:xfrm>
            <a:off x="1554480" y="5458968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Բազմալեզու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303520" y="5458968"/>
            <a:ext cx="6355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Ամբողջական հայերեն, ռուսերեն և անգլերեն ինտերֆեյս՝ առանց լրացուցիչ կարգավորումների։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ԻՆՉՊԵՍ Է ԱՇԽԱՏՈՒՄ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D34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Սեղանից խոհանոց՝ վայրկյանների ընթացքում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F4F2ED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74320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712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97280" y="34747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Սկանավորում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402336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Հյուրը սկանավորում է սեղանի QR կոդը, կամ մատուցողը բացում է POS-ը։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410712" y="3383280"/>
            <a:ext cx="256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3648456" y="246888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1E232B"/>
          </a:solidFill>
          <a:ln/>
        </p:spPr>
      </p:sp>
      <p:sp>
        <p:nvSpPr>
          <p:cNvPr id="10" name="Text 8"/>
          <p:cNvSpPr/>
          <p:nvPr/>
        </p:nvSpPr>
        <p:spPr>
          <a:xfrm>
            <a:off x="3922776" y="274320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8A3C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922776" y="34747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Պատվեր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22776" y="402336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Ապրանքներն ու հավելումները ընտրվում և հաստատվում են մեկ հպումով։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36208" y="3383280"/>
            <a:ext cx="256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6473952" y="246888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F4F2ED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274320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712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03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748272" y="34747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Պատրաստում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48272" y="402336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Պատվերն ուղղվում է խոհանոցի ճիշտ էկրանին իրական ժամանակում։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061704" y="3383280"/>
            <a:ext cx="256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400" dirty="0"/>
          </a:p>
        </p:txBody>
      </p:sp>
      <p:sp>
        <p:nvSpPr>
          <p:cNvPr id="19" name="Shape 17"/>
          <p:cNvSpPr/>
          <p:nvPr/>
        </p:nvSpPr>
        <p:spPr>
          <a:xfrm>
            <a:off x="9299448" y="246888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1E232B"/>
          </a:solidFill>
          <a:ln/>
        </p:spPr>
      </p:sp>
      <p:sp>
        <p:nvSpPr>
          <p:cNvPr id="20" name="Text 18"/>
          <p:cNvSpPr/>
          <p:nvPr/>
        </p:nvSpPr>
        <p:spPr>
          <a:xfrm>
            <a:off x="9573768" y="274320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8A3C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04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9573768" y="34747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Հաշվետվություն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573768" y="402336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Վաճառքը, պահեստն ու մարժան ակնթարթորեն թարմացվում են վահանակում։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22960" y="55321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Մեկ միասնական տվյալների հոսք — յուրաքանչյուր պատվեր իրական ժամանակում թարմացնում է խոհանոցը, պահեստը և հաշվետվությունները։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ՓԱԹԵԹՆԵՐ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Չորս փաթեթ։ Ֆիքսված ամսական վճար։ Առանց պատվերից գանձումների։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2670048" cy="4389120"/>
          </a:xfrm>
          <a:prstGeom prst="roundRect">
            <a:avLst>
              <a:gd name="adj" fmla="val 4110"/>
            </a:avLst>
          </a:prstGeom>
          <a:solidFill>
            <a:srgbClr val="2A313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011680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spc="100" kern="0" dirty="0">
                <a:solidFill>
                  <a:srgbClr val="E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ՄԵԿՆԱՐԿ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2651760"/>
            <a:ext cx="26700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$29</a:t>
            </a:r>
            <a:pPr algn="ctr" indent="0" marL="0">
              <a:buNone/>
            </a:pPr>
            <a:r>
              <a:rPr lang="en-US" sz="13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/ամիս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941832" y="3520440"/>
            <a:ext cx="215798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Նոր վայրեր և մեկ վաճառակետ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78408" y="4526280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1 մասնաճյուղ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78408" y="4910328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Մինչև 2 տերմինալ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5422392"/>
            <a:ext cx="2029968" cy="457200"/>
          </a:xfrm>
          <a:prstGeom prst="roundRect">
            <a:avLst>
              <a:gd name="adj" fmla="val 50000"/>
            </a:avLst>
          </a:prstGeom>
          <a:solidFill>
            <a:srgbClr val="E08A3C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5422392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Ընտրել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529584" y="1691640"/>
            <a:ext cx="2670048" cy="4389120"/>
          </a:xfrm>
          <a:prstGeom prst="roundRect">
            <a:avLst>
              <a:gd name="adj" fmla="val 4110"/>
            </a:avLst>
          </a:prstGeom>
          <a:solidFill>
            <a:srgbClr val="E08A3C"/>
          </a:solidFill>
          <a:ln/>
        </p:spPr>
      </p:sp>
      <p:sp>
        <p:nvSpPr>
          <p:cNvPr id="13" name="Text 11"/>
          <p:cNvSpPr/>
          <p:nvPr/>
        </p:nvSpPr>
        <p:spPr>
          <a:xfrm>
            <a:off x="3529584" y="1892808"/>
            <a:ext cx="2670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E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ԱՄԵՆԱՊԱՀԱՆՋՎԱԾ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29584" y="2258568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spc="100" kern="0" dirty="0">
                <a:solidFill>
                  <a:srgbClr val="1E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ԱՃ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529584" y="2651760"/>
            <a:ext cx="26700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32B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$79</a:t>
            </a:r>
            <a:pPr algn="ctr" indent="0" marL="0">
              <a:buNone/>
            </a:pPr>
            <a:r>
              <a:rPr lang="en-US" sz="1300" dirty="0">
                <a:solidFill>
                  <a:srgbClr val="5A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/ամիս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3785616" y="3520440"/>
            <a:ext cx="215798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Զբաղված սրահներ, լիարժեք սպասարկում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822192" y="4526280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1 մասնաճյուղ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22192" y="4910328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Մինչև 6 տերմինալ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49624" y="5422392"/>
            <a:ext cx="2029968" cy="457200"/>
          </a:xfrm>
          <a:prstGeom prst="roundRect">
            <a:avLst>
              <a:gd name="adj" fmla="val 50000"/>
            </a:avLst>
          </a:prstGeom>
          <a:solidFill>
            <a:srgbClr val="1E232B"/>
          </a:solidFill>
          <a:ln/>
        </p:spPr>
      </p:sp>
      <p:sp>
        <p:nvSpPr>
          <p:cNvPr id="20" name="Text 18"/>
          <p:cNvSpPr/>
          <p:nvPr/>
        </p:nvSpPr>
        <p:spPr>
          <a:xfrm>
            <a:off x="3849624" y="5422392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Ընտրել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73368" y="1691640"/>
            <a:ext cx="2670048" cy="4389120"/>
          </a:xfrm>
          <a:prstGeom prst="roundRect">
            <a:avLst>
              <a:gd name="adj" fmla="val 4110"/>
            </a:avLst>
          </a:prstGeom>
          <a:solidFill>
            <a:srgbClr val="2A313B"/>
          </a:solidFill>
          <a:ln/>
        </p:spPr>
      </p:sp>
      <p:sp>
        <p:nvSpPr>
          <p:cNvPr id="22" name="Text 20"/>
          <p:cNvSpPr/>
          <p:nvPr/>
        </p:nvSpPr>
        <p:spPr>
          <a:xfrm>
            <a:off x="6373368" y="2011680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spc="100" kern="0" dirty="0">
                <a:solidFill>
                  <a:srgbClr val="E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ՊՐՈ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373368" y="2651760"/>
            <a:ext cx="26700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$169</a:t>
            </a:r>
            <a:pPr algn="ctr" indent="0" marL="0">
              <a:buNone/>
            </a:pPr>
            <a:r>
              <a:rPr lang="en-US" sz="13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/ամիս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6629400" y="3520440"/>
            <a:ext cx="215798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Ցանցեր և մի քանի մասնաճյուղ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665976" y="4526280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Մի քանի մասնաճյուղ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65976" y="4910328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Անսահմանափակ տերմինալ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693408" y="5422392"/>
            <a:ext cx="2029968" cy="457200"/>
          </a:xfrm>
          <a:prstGeom prst="roundRect">
            <a:avLst>
              <a:gd name="adj" fmla="val 50000"/>
            </a:avLst>
          </a:prstGeom>
          <a:solidFill>
            <a:srgbClr val="E08A3C"/>
          </a:solidFill>
          <a:ln/>
        </p:spPr>
      </p:sp>
      <p:sp>
        <p:nvSpPr>
          <p:cNvPr id="28" name="Text 26"/>
          <p:cNvSpPr/>
          <p:nvPr/>
        </p:nvSpPr>
        <p:spPr>
          <a:xfrm>
            <a:off x="6693408" y="5422392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Ընտրել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9217152" y="1691640"/>
            <a:ext cx="2670048" cy="4389120"/>
          </a:xfrm>
          <a:prstGeom prst="roundRect">
            <a:avLst>
              <a:gd name="adj" fmla="val 4110"/>
            </a:avLst>
          </a:prstGeom>
          <a:solidFill>
            <a:srgbClr val="2A313B"/>
          </a:solidFill>
          <a:ln/>
        </p:spPr>
      </p:sp>
      <p:sp>
        <p:nvSpPr>
          <p:cNvPr id="30" name="Text 28"/>
          <p:cNvSpPr/>
          <p:nvPr/>
        </p:nvSpPr>
        <p:spPr>
          <a:xfrm>
            <a:off x="9217152" y="2011680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spc="100" kern="0" dirty="0">
                <a:solidFill>
                  <a:srgbClr val="E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ԿՈՐՊՈՐԱՏԻՎ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217152" y="2651760"/>
            <a:ext cx="26700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Անհատ.</a:t>
            </a:r>
            <a:pPr algn="ctr" indent="0" marL="0">
              <a:buNone/>
            </a:pP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9473184" y="3520440"/>
            <a:ext cx="215798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Ցանցեր, ֆրանշիզաներ և անհատական IT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509760" y="4526280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Անսահմանափակ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509760" y="4910328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Տեղական + ամպ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537192" y="5422392"/>
            <a:ext cx="2029968" cy="457200"/>
          </a:xfrm>
          <a:prstGeom prst="roundRect">
            <a:avLst>
              <a:gd name="adj" fmla="val 50000"/>
            </a:avLst>
          </a:prstGeom>
          <a:solidFill>
            <a:srgbClr val="E08A3C"/>
          </a:solidFill>
          <a:ln/>
        </p:spPr>
      </p:sp>
      <p:sp>
        <p:nvSpPr>
          <p:cNvPr id="36" name="Text 34"/>
          <p:cNvSpPr/>
          <p:nvPr/>
        </p:nvSpPr>
        <p:spPr>
          <a:xfrm>
            <a:off x="9537192" y="5422392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Կապ մեզ հետ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57200" y="62636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14-օրյա անվճար փորձաշրջան · տարեկան վճարումը խնայում է երկու ամիս · փոփոխություններ ցանկացած պահի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ԻՆՉ Է ՆԵՐԱՌՎԱԾ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D34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Փաթեթների համեմատություն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10561320" cy="457200"/>
          </a:xfrm>
          <a:prstGeom prst="rect">
            <a:avLst/>
          </a:prstGeom>
          <a:solidFill>
            <a:srgbClr val="1E232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55448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Գործառույթ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715000" y="1554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Մեկնարկ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132320" y="1554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Աճ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549640" y="1554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Պրո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966960" y="1554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Կորպորատիվ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2011680"/>
            <a:ext cx="10561320" cy="379476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011680"/>
            <a:ext cx="46634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Արագ POS և թվային մենյու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715000" y="2011680"/>
            <a:ext cx="14173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32320" y="2011680"/>
            <a:ext cx="14173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7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49640" y="2011680"/>
            <a:ext cx="14173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966960" y="2011680"/>
            <a:ext cx="14173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391156"/>
            <a:ext cx="46634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մենյու և հաճախորդի պատվեր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715000" y="2391156"/>
            <a:ext cx="14173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32320" y="2391156"/>
            <a:ext cx="14173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7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49640" y="2391156"/>
            <a:ext cx="14173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966960" y="2391156"/>
            <a:ext cx="14173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2960" y="2770632"/>
            <a:ext cx="10561320" cy="379476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2770632"/>
            <a:ext cx="46634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Խոհանոցի էկրաններ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715000" y="2770632"/>
            <a:ext cx="14173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2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էկրան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132320" y="2770632"/>
            <a:ext cx="14173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2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Անսահ.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549640" y="2770632"/>
            <a:ext cx="14173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2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Անսահ.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966960" y="2770632"/>
            <a:ext cx="14173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2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Անսահ.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05840" y="3150108"/>
            <a:ext cx="46634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Սեղաններ, հատակագիծ և ամրագրումներ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715000" y="3150108"/>
            <a:ext cx="14173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C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132320" y="3150108"/>
            <a:ext cx="14173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7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549640" y="3150108"/>
            <a:ext cx="14173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966960" y="3150108"/>
            <a:ext cx="14173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22960" y="3529584"/>
            <a:ext cx="10561320" cy="379476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33" name="Text 31"/>
          <p:cNvSpPr/>
          <p:nvPr/>
        </p:nvSpPr>
        <p:spPr>
          <a:xfrm>
            <a:off x="1005840" y="3529584"/>
            <a:ext cx="46634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Իրական ժամանակի վաճառքի հաշվետվություններ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715000" y="3529584"/>
            <a:ext cx="14173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C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132320" y="3529584"/>
            <a:ext cx="14173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7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549640" y="3529584"/>
            <a:ext cx="14173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966960" y="3529584"/>
            <a:ext cx="14173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05840" y="3909060"/>
            <a:ext cx="46634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Անձնակազմի դերեր և իրավունքներ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715000" y="3909060"/>
            <a:ext cx="14173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C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132320" y="3909060"/>
            <a:ext cx="14173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7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549640" y="3909060"/>
            <a:ext cx="14173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966960" y="3909060"/>
            <a:ext cx="14173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822960" y="4288536"/>
            <a:ext cx="10561320" cy="379476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44" name="Text 42"/>
          <p:cNvSpPr/>
          <p:nvPr/>
        </p:nvSpPr>
        <p:spPr>
          <a:xfrm>
            <a:off x="1005840" y="4288536"/>
            <a:ext cx="46634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Պահեստ և ինքնարժեքի հաշվարկ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715000" y="4288536"/>
            <a:ext cx="14173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C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132320" y="4288536"/>
            <a:ext cx="14173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C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549640" y="4288536"/>
            <a:ext cx="14173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9966960" y="4288536"/>
            <a:ext cx="14173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1005840" y="4668012"/>
            <a:ext cx="46634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Մի քանի մասնաճյուղ և մենյուի համաժամացում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715000" y="4668012"/>
            <a:ext cx="14173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C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7132320" y="4668012"/>
            <a:ext cx="14173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C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8549640" y="4668012"/>
            <a:ext cx="14173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9966960" y="4668012"/>
            <a:ext cx="14173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822960" y="5047488"/>
            <a:ext cx="10561320" cy="379476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55" name="Text 53"/>
          <p:cNvSpPr/>
          <p:nvPr/>
        </p:nvSpPr>
        <p:spPr>
          <a:xfrm>
            <a:off x="1005840" y="5047488"/>
            <a:ext cx="46634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Ընդլայնված անալիտիկա, API և webhooks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5715000" y="5047488"/>
            <a:ext cx="14173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C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7132320" y="5047488"/>
            <a:ext cx="14173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C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8549640" y="5047488"/>
            <a:ext cx="14173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9966960" y="5047488"/>
            <a:ext cx="14173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1005840" y="5426964"/>
            <a:ext cx="46634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Ֆիսկալիզացիա և հարկային համապատասխանություն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5715000" y="5426964"/>
            <a:ext cx="14173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C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7132320" y="5426964"/>
            <a:ext cx="14173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C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8549640" y="5426964"/>
            <a:ext cx="14173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C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9966960" y="5426964"/>
            <a:ext cx="14173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822960" y="5806440"/>
            <a:ext cx="10561320" cy="379476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66" name="Text 64"/>
          <p:cNvSpPr/>
          <p:nvPr/>
        </p:nvSpPr>
        <p:spPr>
          <a:xfrm>
            <a:off x="1005840" y="5806440"/>
            <a:ext cx="46634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Անցանց / տեղական սերվեր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5715000" y="5806440"/>
            <a:ext cx="14173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C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7132320" y="5806440"/>
            <a:ext cx="14173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C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8549640" y="5806440"/>
            <a:ext cx="14173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C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9966960" y="5806440"/>
            <a:ext cx="14173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1005840" y="6185916"/>
            <a:ext cx="46634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Անհատական IT աշխատանք և ինտեգրումներ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5715000" y="6185916"/>
            <a:ext cx="14173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C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7132320" y="6185916"/>
            <a:ext cx="14173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C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400" dirty="0"/>
          </a:p>
        </p:txBody>
      </p:sp>
      <p:sp>
        <p:nvSpPr>
          <p:cNvPr id="74" name="Text 72"/>
          <p:cNvSpPr/>
          <p:nvPr/>
        </p:nvSpPr>
        <p:spPr>
          <a:xfrm>
            <a:off x="8549640" y="6185916"/>
            <a:ext cx="14173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C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400" dirty="0"/>
          </a:p>
        </p:txBody>
      </p:sp>
      <p:sp>
        <p:nvSpPr>
          <p:cNvPr id="75" name="Text 73"/>
          <p:cNvSpPr/>
          <p:nvPr/>
        </p:nvSpPr>
        <p:spPr>
          <a:xfrm>
            <a:off x="9966960" y="6185916"/>
            <a:ext cx="14173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76" name="Shape 74"/>
          <p:cNvSpPr/>
          <p:nvPr/>
        </p:nvSpPr>
        <p:spPr>
          <a:xfrm>
            <a:off x="7132320" y="1554480"/>
            <a:ext cx="1417320" cy="5010912"/>
          </a:xfrm>
          <a:prstGeom prst="rect">
            <a:avLst/>
          </a:prstGeom>
          <a:ln w="19050">
            <a:solidFill>
              <a:srgbClr val="E08A3C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ԻՆՉՈՒ RESTAURANT 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Մատչելի ձեզ համար, ստեղծված աճելու համար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5212080" cy="1645920"/>
          </a:xfrm>
          <a:prstGeom prst="roundRect">
            <a:avLst>
              <a:gd name="adj" fmla="val 6667"/>
            </a:avLst>
          </a:prstGeom>
          <a:solidFill>
            <a:srgbClr val="2A313B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56032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08A3C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0%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246120" y="2587752"/>
            <a:ext cx="26060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Միջնորդավճար յուրաքանչյուր պատվերից — միայն ֆիքսված ամսական վճար։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0" y="2331720"/>
            <a:ext cx="5212080" cy="1645920"/>
          </a:xfrm>
          <a:prstGeom prst="roundRect">
            <a:avLst>
              <a:gd name="adj" fmla="val 6667"/>
            </a:avLst>
          </a:prstGeom>
          <a:solidFill>
            <a:srgbClr val="2A313B"/>
          </a:solidFill>
          <a:ln/>
        </p:spPr>
      </p:sp>
      <p:sp>
        <p:nvSpPr>
          <p:cNvPr id="8" name="Text 6"/>
          <p:cNvSpPr/>
          <p:nvPr/>
        </p:nvSpPr>
        <p:spPr>
          <a:xfrm>
            <a:off x="6720840" y="256032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08A3C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3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8823960" y="2587752"/>
            <a:ext cx="26060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Ներկառուցված լեզու — հայերեն, ռուսերեն, անգլերեն։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4251960"/>
            <a:ext cx="5212080" cy="1645920"/>
          </a:xfrm>
          <a:prstGeom prst="roundRect">
            <a:avLst>
              <a:gd name="adj" fmla="val 6667"/>
            </a:avLst>
          </a:prstGeom>
          <a:solidFill>
            <a:srgbClr val="2A313B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4805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08A3C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1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246120" y="4507992"/>
            <a:ext cx="26060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Միասնական համակարգ՝ ձեր POS-ի, մենյուի, KDS-ի և պահեստի գործիքների փոխարեն։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0" y="4251960"/>
            <a:ext cx="5212080" cy="1645920"/>
          </a:xfrm>
          <a:prstGeom prst="roundRect">
            <a:avLst>
              <a:gd name="adj" fmla="val 6667"/>
            </a:avLst>
          </a:prstGeom>
          <a:solidFill>
            <a:srgbClr val="2A313B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44805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08A3C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24/7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8823960" y="4507992"/>
            <a:ext cx="26060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Անխափան աշխատանք — անցանց ռեժիմի աջակցությամբ։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08A3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32B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17904" y="868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Պատրա՞ստ եք ձեր ռեստորանը</a:t>
            </a:r>
            <a:endParaRPr lang="en-US" sz="3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կառավարել մեկ համակարգով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4206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Սկսեք 14-օրյա անվճար փորձաշրջանը կամ կապվեք մեզ հետ՝ անհատական Կորպորատիվ լուծման և IT աշխատանքի համար։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41248" y="5257800"/>
            <a:ext cx="2834640" cy="640080"/>
          </a:xfrm>
          <a:prstGeom prst="roundRect">
            <a:avLst>
              <a:gd name="adj" fmla="val 50000"/>
            </a:avLst>
          </a:prstGeom>
          <a:solidFill>
            <a:srgbClr val="E08A3C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52578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Սկսել անվճար փորձը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840480" y="5257800"/>
            <a:ext cx="2651760" cy="640080"/>
          </a:xfrm>
          <a:prstGeom prst="roundRect">
            <a:avLst>
              <a:gd name="adj" fmla="val 50000"/>
            </a:avLst>
          </a:prstGeom>
          <a:ln w="19050">
            <a:solidFill>
              <a:srgbClr val="7A808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52578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Ամրագրել դեմո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Restaurant OS — Ապրանք և փաթեթներ</dc:title>
  <dc:subject>PptxGenJS Presentation</dc:subject>
  <dc:creator>Restaurant OS</dc:creator>
  <cp:lastModifiedBy>Restaurant OS</cp:lastModifiedBy>
  <cp:revision>1</cp:revision>
  <dcterms:created xsi:type="dcterms:W3CDTF">2026-07-11T11:16:51Z</dcterms:created>
  <dcterms:modified xsi:type="dcterms:W3CDTF">2026-07-11T11:16:51Z</dcterms:modified>
</cp:coreProperties>
</file>